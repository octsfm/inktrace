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758B4B-6A09-A50D-A32E-934B8984C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6B4769-2A28-59A5-5A81-C2B756C6A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1E0D26-F777-82F1-503A-9D8AEB8A2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03E2-3F24-48DB-B508-F1C9237B0D9B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F55080-3FE5-6DFA-C636-1EBB209CF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CC2352-FE8A-6A61-2905-6AB3733F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DD130-A441-433A-A46E-F2695948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890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E9445B-80ED-E57B-264E-1B14D2B00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6305C0-4D63-5592-774E-14B6ED70F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80827A-5CF3-38E1-8D97-C9CBC35B2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03E2-3F24-48DB-B508-F1C9237B0D9B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B99311-1A36-8BAB-7009-FEF06967F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656A0A-80BC-D9D2-26D0-D4B0388A5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DD130-A441-433A-A46E-F2695948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29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F2E07D-CCC2-6A20-6583-02C82C534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9F2067-8720-3E7D-D09F-560DA3D71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A3C3BB-850C-2538-AF3B-00FDCF919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03E2-3F24-48DB-B508-F1C9237B0D9B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708C74-0D29-F632-0B66-AD74A6544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2A5284-EC34-55B7-F89F-3D7851C1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DD130-A441-433A-A46E-F2695948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586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1AFD10-E446-58DE-72ED-254BF97A2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A15C5C-F584-C10F-22D3-63A556D7BF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25DF58-AE4B-1FAD-33FD-571F7287E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2D574C-F396-A2ED-85B4-67951EB74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03E2-3F24-48DB-B508-F1C9237B0D9B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9EE52D-F408-CB76-CC31-E8F6DD95B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349994-95F1-7AF5-A28D-B678FF84E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DD130-A441-433A-A46E-F2695948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067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BE0F95-6F24-CF8A-E7F4-477E3BCA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812B10-7203-68C0-1EA1-F5173DFD7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E412EF-2A36-5F28-A599-6EE127555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3C82DF-271C-B4B3-6C62-93E836864B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F7D3D2-C322-52D8-36FC-269143B21A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B38CA1-2D67-8E97-712B-689E3CD28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03E2-3F24-48DB-B508-F1C9237B0D9B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976A784-66F5-F356-6F5F-8F835060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FDD4928-D7BF-40AF-17EC-5C9A2F00A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DD130-A441-433A-A46E-F2695948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307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21E239-B266-3206-ACEA-F69DA9568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8F21E4A-E5A3-169E-31C1-D9EEC8D82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03E2-3F24-48DB-B508-F1C9237B0D9B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CFD7A79-4233-B1DC-FAA4-97B488EDF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59F075-577F-9094-984D-2A851E315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DD130-A441-433A-A46E-F2695948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662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0FD8856-EBF2-CCF9-4468-AD41DF7D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03E2-3F24-48DB-B508-F1C9237B0D9B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87DC7F-1F60-BB8B-B488-757492BAD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3494DC-E959-30AD-ADC0-BA906BEC9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DD130-A441-433A-A46E-F2695948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534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3EF50C-A335-CA7D-17A6-0353DA038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5B77E8-AD5E-A549-0F38-ACE6CD2F8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2111C8-9F3A-1402-0938-7C3F4C699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1D2B9D-C0F8-55C8-729F-98E1CD1AD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03E2-3F24-48DB-B508-F1C9237B0D9B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AB8CE0-E552-1599-0263-9A07887D1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FC35B6-C862-1874-2762-0827ABF7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DD130-A441-433A-A46E-F2695948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453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B4DE0-4952-B043-EEFF-460A21EC2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5AFEEB-A132-DD76-A16A-47A481864A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B54B41-53C0-581C-5D92-8CB82B239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CAD14E-E864-0F7D-85DE-B93648EB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03E2-3F24-48DB-B508-F1C9237B0D9B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619704-4B05-BD77-31AB-EE6B22983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375648-13E2-EB44-D4DF-6265976F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DD130-A441-433A-A46E-F2695948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142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59E836-BE89-D2C6-8E3F-911D0E232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967FA2-DCE6-C7EA-F58D-0344F2490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F82B29-A283-50DD-FE70-E3F0F1240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03E2-3F24-48DB-B508-F1C9237B0D9B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1FE8EC-4C90-F21E-0C0C-33FF0BC0B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62EB28-BB6A-1041-BCEC-867C4A9CC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DD130-A441-433A-A46E-F2695948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975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6622C7F-25A0-54CA-DCE1-3655E7F2D3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E67113-2E3D-1825-729E-62DA39EAA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5ED70E-6285-0E4E-0ECE-B61C0E59A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03E2-3F24-48DB-B508-F1C9237B0D9B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3219A5-0D10-A7B1-1DA7-F15DFD5BB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417349-79D5-6BFA-3EB9-794BE30DE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DD130-A441-433A-A46E-F2695948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660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A78CE0-9095-A5C6-A3FB-98EE64F80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638932-8366-C785-C166-63B959879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D656B7-CD59-4582-027F-2B8F808065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703E2-3F24-48DB-B508-F1C9237B0D9B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B600CF-8953-F8AA-35DD-6883035B2E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310804-76DB-7114-F695-2EA065B230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DD130-A441-433A-A46E-F2695948E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60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59F7129-B65D-7C05-4170-FFCCE1D4F499}"/>
              </a:ext>
            </a:extLst>
          </p:cNvPr>
          <p:cNvSpPr txBox="1"/>
          <p:nvPr/>
        </p:nvSpPr>
        <p:spPr>
          <a:xfrm>
            <a:off x="482600" y="434861"/>
            <a:ext cx="35560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1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V2.0</a:t>
            </a:r>
            <a:endParaRPr lang="zh-CN" altLang="en-US" sz="11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0C008A-1083-4F1F-6E36-249FEC1DFAEC}"/>
              </a:ext>
            </a:extLst>
          </p:cNvPr>
          <p:cNvSpPr txBox="1"/>
          <p:nvPr/>
        </p:nvSpPr>
        <p:spPr>
          <a:xfrm>
            <a:off x="482600" y="929214"/>
            <a:ext cx="8255000" cy="1467068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4600" b="1">
                <a:solidFill>
                  <a:srgbClr val="17212B"/>
                </a:solidFill>
                <a:latin typeface="Microsoft YaHei" panose="020B0503020204020204" pitchFamily="34" charset="-122"/>
              </a:rPr>
              <a:t>小白写手
完整操作指南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6BEDA4-D9D9-9875-BBD0-E1457503A3CE}"/>
              </a:ext>
            </a:extLst>
          </p:cNvPr>
          <p:cNvSpPr txBox="1"/>
          <p:nvPr/>
        </p:nvSpPr>
        <p:spPr>
          <a:xfrm>
            <a:off x="482600" y="3604111"/>
            <a:ext cx="9652000" cy="3590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000">
                <a:solidFill>
                  <a:srgbClr val="65727E"/>
                </a:solidFill>
                <a:latin typeface="Microsoft YaHei" panose="020B0503020204020204" pitchFamily="34" charset="-122"/>
              </a:rPr>
              <a:t>从第一次配置，到安全采用每一份候选新稿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66A7C0-7AAE-BE01-378E-07BCB78921E3}"/>
              </a:ext>
            </a:extLst>
          </p:cNvPr>
          <p:cNvSpPr/>
          <p:nvPr/>
        </p:nvSpPr>
        <p:spPr>
          <a:xfrm>
            <a:off x="482600" y="4978400"/>
            <a:ext cx="11226800" cy="990600"/>
          </a:xfrm>
          <a:prstGeom prst="rect">
            <a:avLst/>
          </a:prstGeom>
          <a:solidFill>
            <a:srgbClr val="F4F7F9"/>
          </a:solidFill>
          <a:ln w="19050">
            <a:solidFill>
              <a:srgbClr val="63C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CD67C0D-8341-155C-4AB2-D3540D441E58}"/>
              </a:ext>
            </a:extLst>
          </p:cNvPr>
          <p:cNvSpPr txBox="1"/>
          <p:nvPr/>
        </p:nvSpPr>
        <p:spPr>
          <a:xfrm>
            <a:off x="762000" y="5189294"/>
            <a:ext cx="106680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你始终是作者。</a:t>
            </a:r>
            <a:r>
              <a:rPr lang="en-US" altLang="zh-CN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只准备候选方案，正文、方向、计划和故事记忆都由你确认。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6675C6-A3F3-1AC6-4AA1-697A5E1DDA09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9579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BAB1FA7-9400-3539-9C6E-3DF5E2C5E494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E36470-4A85-6D9F-5CA2-6DE9A3E7E12F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先用一句话理解 </a:t>
            </a:r>
            <a:r>
              <a:rPr lang="en-US" altLang="zh-CN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InkTrace</a:t>
            </a:r>
            <a:endParaRPr lang="zh-CN" altLang="en-US" sz="2900" b="1">
              <a:solidFill>
                <a:srgbClr val="1721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F105BB-2B77-7889-3F12-ED64AC75072E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2E7D1C-D923-6034-8A39-B21267DEF891}"/>
              </a:ext>
            </a:extLst>
          </p:cNvPr>
          <p:cNvSpPr txBox="1"/>
          <p:nvPr/>
        </p:nvSpPr>
        <p:spPr>
          <a:xfrm>
            <a:off x="673100" y="1730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2F7CF6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8FDA886-5FE0-709E-33EA-36FE531F2964}"/>
              </a:ext>
            </a:extLst>
          </p:cNvPr>
          <p:cNvSpPr txBox="1"/>
          <p:nvPr/>
        </p:nvSpPr>
        <p:spPr>
          <a:xfrm>
            <a:off x="990600" y="1691789"/>
            <a:ext cx="10414000" cy="29751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600">
                <a:solidFill>
                  <a:srgbClr val="17212B"/>
                </a:solidFill>
                <a:latin typeface="Microsoft YaHei" panose="020B0503020204020204" pitchFamily="34" charset="-122"/>
              </a:rPr>
              <a:t>你负责决定故事；</a:t>
            </a:r>
            <a:r>
              <a:rPr lang="en-US" altLang="zh-CN" sz="1600">
                <a:solidFill>
                  <a:srgbClr val="17212B"/>
                </a:solidFill>
                <a:latin typeface="Microsoft YaHei" panose="020B0503020204020204" pitchFamily="34" charset="-122"/>
              </a:rPr>
              <a:t>InkTrace </a:t>
            </a:r>
            <a:r>
              <a:rPr lang="zh-CN" altLang="en-US" sz="1600">
                <a:solidFill>
                  <a:srgbClr val="17212B"/>
                </a:solidFill>
                <a:latin typeface="Microsoft YaHei" panose="020B0503020204020204" pitchFamily="34" charset="-122"/>
              </a:rPr>
              <a:t>负责整理资料和准备候选方案。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E3AC1A-0B9A-2DC1-8122-6C83FE0BB358}"/>
              </a:ext>
            </a:extLst>
          </p:cNvPr>
          <p:cNvSpPr txBox="1"/>
          <p:nvPr/>
        </p:nvSpPr>
        <p:spPr>
          <a:xfrm>
            <a:off x="673100" y="23398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2DF201-7A77-1035-15C0-F2795AE582D2}"/>
              </a:ext>
            </a:extLst>
          </p:cNvPr>
          <p:cNvSpPr txBox="1"/>
          <p:nvPr/>
        </p:nvSpPr>
        <p:spPr>
          <a:xfrm>
            <a:off x="990600" y="2301389"/>
            <a:ext cx="10414000" cy="29751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600">
                <a:solidFill>
                  <a:srgbClr val="17212B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600">
                <a:solidFill>
                  <a:srgbClr val="17212B"/>
                </a:solidFill>
                <a:latin typeface="Microsoft YaHei" panose="020B0503020204020204" pitchFamily="34" charset="-122"/>
              </a:rPr>
              <a:t>写完以后先进入候选稿区，不会直接修改正式正文。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288E9BF-1D38-60F3-40DB-B6B02CB84462}"/>
              </a:ext>
            </a:extLst>
          </p:cNvPr>
          <p:cNvSpPr txBox="1"/>
          <p:nvPr/>
        </p:nvSpPr>
        <p:spPr>
          <a:xfrm>
            <a:off x="673100" y="29494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BA1EFD-4CA1-1E9E-8A03-BEB6620B5597}"/>
              </a:ext>
            </a:extLst>
          </p:cNvPr>
          <p:cNvSpPr txBox="1"/>
          <p:nvPr/>
        </p:nvSpPr>
        <p:spPr>
          <a:xfrm>
            <a:off x="990600" y="2910989"/>
            <a:ext cx="10414000" cy="29751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600">
                <a:solidFill>
                  <a:srgbClr val="17212B"/>
                </a:solidFill>
                <a:latin typeface="Microsoft YaHei" panose="020B0503020204020204" pitchFamily="34" charset="-122"/>
              </a:rPr>
              <a:t>方向、计划、候选稿和故事记忆，需要分别确认。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FEEC801-40F5-E527-A5E0-C2F1B0D2B1DE}"/>
              </a:ext>
            </a:extLst>
          </p:cNvPr>
          <p:cNvSpPr txBox="1"/>
          <p:nvPr/>
        </p:nvSpPr>
        <p:spPr>
          <a:xfrm>
            <a:off x="673100" y="35590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061D790-E8FB-E4FF-F357-F7FE93293C16}"/>
              </a:ext>
            </a:extLst>
          </p:cNvPr>
          <p:cNvSpPr txBox="1"/>
          <p:nvPr/>
        </p:nvSpPr>
        <p:spPr>
          <a:xfrm>
            <a:off x="990600" y="3520589"/>
            <a:ext cx="10414000" cy="29751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600">
                <a:solidFill>
                  <a:srgbClr val="17212B"/>
                </a:solidFill>
                <a:latin typeface="Microsoft YaHei" panose="020B0503020204020204" pitchFamily="34" charset="-122"/>
              </a:rPr>
              <a:t>预算、分析和风格数据只帮助判断，不替你评价作品。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A8BAED-7C97-05B3-0484-122AABC42A31}"/>
              </a:ext>
            </a:extLst>
          </p:cNvPr>
          <p:cNvSpPr txBox="1"/>
          <p:nvPr/>
        </p:nvSpPr>
        <p:spPr>
          <a:xfrm>
            <a:off x="673100" y="41686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655C73A-847F-C810-D209-3623BF465FC6}"/>
              </a:ext>
            </a:extLst>
          </p:cNvPr>
          <p:cNvSpPr txBox="1"/>
          <p:nvPr/>
        </p:nvSpPr>
        <p:spPr>
          <a:xfrm>
            <a:off x="990600" y="4130189"/>
            <a:ext cx="10414000" cy="29751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600">
                <a:solidFill>
                  <a:srgbClr val="17212B"/>
                </a:solidFill>
                <a:latin typeface="Microsoft YaHei" panose="020B0503020204020204" pitchFamily="34" charset="-122"/>
              </a:rPr>
              <a:t>遇到阻断冲突或费用不明时，系统会先停下等你处理。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C049FEF-51D2-F88F-8B2C-1B360DF8B57E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CED47D5-0E9A-5168-477A-017D8A846F89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只要记住“先看、再改、再确认”，就不会把 </a:t>
            </a:r>
            <a:r>
              <a:rPr lang="en-US" altLang="zh-CN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建议误当成正式正文。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BE97B6E-73B5-417F-B556-7AC5CFA4F0AA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0196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EF3640C-3F4F-DBB1-3C4A-2FAAE81CC1E3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01FA2C-644A-4093-52B3-9C91D402F458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六条安全底线，任何时候都不变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F86C44-A4B3-15D5-667C-1BF3A8DDEE8D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352CDE-C264-B49E-0CBA-2F6B8A22B62B}"/>
              </a:ext>
            </a:extLst>
          </p:cNvPr>
          <p:cNvSpPr/>
          <p:nvPr/>
        </p:nvSpPr>
        <p:spPr>
          <a:xfrm>
            <a:off x="482600" y="1816100"/>
            <a:ext cx="53975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513275B-B32C-3A5E-3D8D-AD06ADFC9627}"/>
              </a:ext>
            </a:extLst>
          </p:cNvPr>
          <p:cNvSpPr/>
          <p:nvPr/>
        </p:nvSpPr>
        <p:spPr>
          <a:xfrm>
            <a:off x="482600" y="1816100"/>
            <a:ext cx="63500" cy="3111500"/>
          </a:xfrm>
          <a:prstGeom prst="rect">
            <a:avLst/>
          </a:prstGeom>
          <a:solidFill>
            <a:srgbClr val="2F7CF6"/>
          </a:solidFill>
          <a:ln w="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2F1048-797F-645F-4825-AABF56BF1E82}"/>
              </a:ext>
            </a:extLst>
          </p:cNvPr>
          <p:cNvSpPr txBox="1"/>
          <p:nvPr/>
        </p:nvSpPr>
        <p:spPr>
          <a:xfrm>
            <a:off x="711200" y="1950794"/>
            <a:ext cx="50165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不会自动做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C3E764-BD9F-E373-4421-F683842A8693}"/>
              </a:ext>
            </a:extLst>
          </p:cNvPr>
          <p:cNvSpPr txBox="1"/>
          <p:nvPr/>
        </p:nvSpPr>
        <p:spPr>
          <a:xfrm>
            <a:off x="711200" y="2520434"/>
            <a:ext cx="50165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不会自动写正式正文
不会自动选择方向或计划
不会自动更新故事记忆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935C76-5D03-64EC-B7FB-D8A750AD43B0}"/>
              </a:ext>
            </a:extLst>
          </p:cNvPr>
          <p:cNvSpPr/>
          <p:nvPr/>
        </p:nvSpPr>
        <p:spPr>
          <a:xfrm>
            <a:off x="6121400" y="1816100"/>
            <a:ext cx="55880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4F0101-6802-0F81-7C9C-C74F8A261B8B}"/>
              </a:ext>
            </a:extLst>
          </p:cNvPr>
          <p:cNvSpPr/>
          <p:nvPr/>
        </p:nvSpPr>
        <p:spPr>
          <a:xfrm>
            <a:off x="6121400" y="1816100"/>
            <a:ext cx="63500" cy="3111500"/>
          </a:xfrm>
          <a:prstGeom prst="rect">
            <a:avLst/>
          </a:prstGeom>
          <a:solidFill>
            <a:srgbClr val="2E9D72"/>
          </a:solidFill>
          <a:ln w="0">
            <a:solidFill>
              <a:srgbClr val="2E9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237A7BD-641E-C697-C4F4-EA2568CDCE53}"/>
              </a:ext>
            </a:extLst>
          </p:cNvPr>
          <p:cNvSpPr txBox="1"/>
          <p:nvPr/>
        </p:nvSpPr>
        <p:spPr>
          <a:xfrm>
            <a:off x="6350000" y="1950794"/>
            <a:ext cx="52070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需要作者做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DEC87DC-86E2-99A7-633B-23437933F83D}"/>
              </a:ext>
            </a:extLst>
          </p:cNvPr>
          <p:cNvSpPr txBox="1"/>
          <p:nvPr/>
        </p:nvSpPr>
        <p:spPr>
          <a:xfrm>
            <a:off x="6350000" y="2520434"/>
            <a:ext cx="52070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亲自接受和应用候选稿
处理阻断冲突和预算问题
明确继续、暂停或放弃任务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90B00B-7571-05A1-12E7-A646597033F0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E9CC382-F67F-E67D-27EB-C348EC2C8B2F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关闭写作助手不会删除正文、候选稿或资料。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B7C9DAC-05BD-0EDE-B905-2695BCA708B2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5809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C037BF1-DB2B-1C0F-09F9-A68ED5AA0DC1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9F395C7-6456-C137-039A-FB257962786D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先认识四个最常见的词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54AECF-4BF2-3C4C-B18A-BB94F5905223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DC29EA-53C1-E49A-D8AF-B1F9DD52606C}"/>
              </a:ext>
            </a:extLst>
          </p:cNvPr>
          <p:cNvSpPr/>
          <p:nvPr/>
        </p:nvSpPr>
        <p:spPr>
          <a:xfrm>
            <a:off x="482600" y="1816100"/>
            <a:ext cx="53975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F149D1-CEF8-52C4-AED5-A195D5077A34}"/>
              </a:ext>
            </a:extLst>
          </p:cNvPr>
          <p:cNvSpPr/>
          <p:nvPr/>
        </p:nvSpPr>
        <p:spPr>
          <a:xfrm>
            <a:off x="482600" y="1816100"/>
            <a:ext cx="63500" cy="3111500"/>
          </a:xfrm>
          <a:prstGeom prst="rect">
            <a:avLst/>
          </a:prstGeom>
          <a:solidFill>
            <a:srgbClr val="2F7CF6"/>
          </a:solidFill>
          <a:ln w="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E41420-81E7-D98B-857F-BDAB6DEE14CD}"/>
              </a:ext>
            </a:extLst>
          </p:cNvPr>
          <p:cNvSpPr txBox="1"/>
          <p:nvPr/>
        </p:nvSpPr>
        <p:spPr>
          <a:xfrm>
            <a:off x="711200" y="1950794"/>
            <a:ext cx="50165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正文与候选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06CBCF-D8D2-C959-7D9B-031174161F9A}"/>
              </a:ext>
            </a:extLst>
          </p:cNvPr>
          <p:cNvSpPr txBox="1"/>
          <p:nvPr/>
        </p:nvSpPr>
        <p:spPr>
          <a:xfrm>
            <a:off x="711200" y="2520434"/>
            <a:ext cx="50165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正式正文：你真正保存的小说内容
候选稿：等待你审阅的新稿
候选版本：同一稿件的 </a:t>
            </a:r>
            <a:r>
              <a:rPr lang="en-US" altLang="zh-CN" sz="1400">
                <a:solidFill>
                  <a:srgbClr val="65727E"/>
                </a:solidFill>
                <a:latin typeface="Microsoft YaHei" panose="020B0503020204020204" pitchFamily="34" charset="-122"/>
              </a:rPr>
              <a:t>v1</a:t>
            </a:r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65727E"/>
                </a:solidFill>
                <a:latin typeface="Microsoft YaHei" panose="020B0503020204020204" pitchFamily="34" charset="-122"/>
              </a:rPr>
              <a:t>v2</a:t>
            </a:r>
            <a:endParaRPr lang="zh-CN" altLang="en-US" sz="1400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BCDD82-1625-32E3-62AC-A9DCF9E9426D}"/>
              </a:ext>
            </a:extLst>
          </p:cNvPr>
          <p:cNvSpPr/>
          <p:nvPr/>
        </p:nvSpPr>
        <p:spPr>
          <a:xfrm>
            <a:off x="6121400" y="1816100"/>
            <a:ext cx="55880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E20AB0-2BDC-8A42-A2BB-DB6BEC40E705}"/>
              </a:ext>
            </a:extLst>
          </p:cNvPr>
          <p:cNvSpPr/>
          <p:nvPr/>
        </p:nvSpPr>
        <p:spPr>
          <a:xfrm>
            <a:off x="6121400" y="1816100"/>
            <a:ext cx="63500" cy="3111500"/>
          </a:xfrm>
          <a:prstGeom prst="rect">
            <a:avLst/>
          </a:prstGeom>
          <a:solidFill>
            <a:srgbClr val="2E9D72"/>
          </a:solidFill>
          <a:ln w="0">
            <a:solidFill>
              <a:srgbClr val="2E9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C8823E-C6C9-020E-F6ED-FE608678212A}"/>
              </a:ext>
            </a:extLst>
          </p:cNvPr>
          <p:cNvSpPr txBox="1"/>
          <p:nvPr/>
        </p:nvSpPr>
        <p:spPr>
          <a:xfrm>
            <a:off x="6350000" y="1950794"/>
            <a:ext cx="52070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资料与上下文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FE8A3FF-18BD-5D11-B24F-A01DF486CE17}"/>
              </a:ext>
            </a:extLst>
          </p:cNvPr>
          <p:cNvSpPr txBox="1"/>
          <p:nvPr/>
        </p:nvSpPr>
        <p:spPr>
          <a:xfrm>
            <a:off x="6350000" y="2520434"/>
            <a:ext cx="52070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写作资料：大纲、人物、时间线、伏笔
写作上下文：本次任务的必要资料
故事记忆：保持长篇连续性的正式资料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16ABFA-886C-17F9-9463-AB6A8951F6A9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3990828-4F3D-37CB-083F-7BDBCB569DFE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候选稿生成成功，只表示“有一份稿可以看”。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7BE1DB2-9C5D-1E62-1BE6-6A478E3B3957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7462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F27DCFB-DDD0-2006-57B6-7662998949D5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816F86-EF7E-DA3E-8033-7105FD3F3458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第一次使用，按五步完成准备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A030B9-C544-C93A-1D4B-5DF2077B2E8D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7C8B7A-8358-E2FD-2EE8-A6063730A32C}"/>
              </a:ext>
            </a:extLst>
          </p:cNvPr>
          <p:cNvSpPr/>
          <p:nvPr/>
        </p:nvSpPr>
        <p:spPr>
          <a:xfrm>
            <a:off x="482600" y="2222500"/>
            <a:ext cx="2143760" cy="21590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500B2D-B74E-6006-9ADB-005383413E3E}"/>
              </a:ext>
            </a:extLst>
          </p:cNvPr>
          <p:cNvSpPr txBox="1"/>
          <p:nvPr/>
        </p:nvSpPr>
        <p:spPr>
          <a:xfrm>
            <a:off x="635000" y="2389917"/>
            <a:ext cx="584200" cy="374461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2100" b="1">
                <a:solidFill>
                  <a:srgbClr val="65727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1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08BD88-07A9-FBC4-A76A-BB1BCE77DBAE}"/>
              </a:ext>
            </a:extLst>
          </p:cNvPr>
          <p:cNvSpPr txBox="1"/>
          <p:nvPr/>
        </p:nvSpPr>
        <p:spPr>
          <a:xfrm>
            <a:off x="635000" y="3071083"/>
            <a:ext cx="183896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创建或导入作品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1A5097-B704-C1E3-A61D-22B052019B1B}"/>
              </a:ext>
            </a:extLst>
          </p:cNvPr>
          <p:cNvSpPr/>
          <p:nvPr/>
        </p:nvSpPr>
        <p:spPr>
          <a:xfrm>
            <a:off x="2753360" y="2222500"/>
            <a:ext cx="2143760" cy="21590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4C1B54-C1A8-99C6-5A59-82D88B310659}"/>
              </a:ext>
            </a:extLst>
          </p:cNvPr>
          <p:cNvSpPr txBox="1"/>
          <p:nvPr/>
        </p:nvSpPr>
        <p:spPr>
          <a:xfrm>
            <a:off x="2905760" y="2389917"/>
            <a:ext cx="584200" cy="374461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2100" b="1">
                <a:solidFill>
                  <a:srgbClr val="65727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1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23BAC3-AD94-154B-F14C-F708DD4E1F61}"/>
              </a:ext>
            </a:extLst>
          </p:cNvPr>
          <p:cNvSpPr txBox="1"/>
          <p:nvPr/>
        </p:nvSpPr>
        <p:spPr>
          <a:xfrm>
            <a:off x="2905760" y="3071083"/>
            <a:ext cx="183896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配置模型并测试连接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B0EEEA-18E8-E55F-81D3-5793AA2D1701}"/>
              </a:ext>
            </a:extLst>
          </p:cNvPr>
          <p:cNvSpPr/>
          <p:nvPr/>
        </p:nvSpPr>
        <p:spPr>
          <a:xfrm>
            <a:off x="5024120" y="2222500"/>
            <a:ext cx="2143760" cy="21590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001CFA-E6E8-B411-7E52-758D62AC5634}"/>
              </a:ext>
            </a:extLst>
          </p:cNvPr>
          <p:cNvSpPr txBox="1"/>
          <p:nvPr/>
        </p:nvSpPr>
        <p:spPr>
          <a:xfrm>
            <a:off x="5176520" y="2389917"/>
            <a:ext cx="584200" cy="374461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2100" b="1">
                <a:solidFill>
                  <a:srgbClr val="65727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1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81FB8D-EB7B-9CAC-C51B-E97148991B01}"/>
              </a:ext>
            </a:extLst>
          </p:cNvPr>
          <p:cNvSpPr txBox="1"/>
          <p:nvPr/>
        </p:nvSpPr>
        <p:spPr>
          <a:xfrm>
            <a:off x="5176520" y="3071083"/>
            <a:ext cx="183896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打开写作助手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F53F20-3A50-E2A6-738B-7263395689E5}"/>
              </a:ext>
            </a:extLst>
          </p:cNvPr>
          <p:cNvSpPr/>
          <p:nvPr/>
        </p:nvSpPr>
        <p:spPr>
          <a:xfrm>
            <a:off x="7294880" y="2222500"/>
            <a:ext cx="2143760" cy="21590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A49AC47-E2B1-8869-727D-C95D1FCB3656}"/>
              </a:ext>
            </a:extLst>
          </p:cNvPr>
          <p:cNvSpPr txBox="1"/>
          <p:nvPr/>
        </p:nvSpPr>
        <p:spPr>
          <a:xfrm>
            <a:off x="7447280" y="2389917"/>
            <a:ext cx="584200" cy="374461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2100" b="1">
                <a:solidFill>
                  <a:srgbClr val="65727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1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2B3FBF4-BBFE-BAE8-E232-4F17369843D9}"/>
              </a:ext>
            </a:extLst>
          </p:cNvPr>
          <p:cNvSpPr txBox="1"/>
          <p:nvPr/>
        </p:nvSpPr>
        <p:spPr>
          <a:xfrm>
            <a:off x="7447280" y="3071083"/>
            <a:ext cx="183896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设置预算保护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D2D5844-518D-9E6A-954A-DE3C9B8C8A91}"/>
              </a:ext>
            </a:extLst>
          </p:cNvPr>
          <p:cNvSpPr/>
          <p:nvPr/>
        </p:nvSpPr>
        <p:spPr>
          <a:xfrm>
            <a:off x="9565640" y="2222500"/>
            <a:ext cx="2143760" cy="2159000"/>
          </a:xfrm>
          <a:prstGeom prst="rect">
            <a:avLst/>
          </a:prstGeom>
          <a:solidFill>
            <a:srgbClr val="DCEAFF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F552864-919C-7548-F2B8-74BFF820CA09}"/>
              </a:ext>
            </a:extLst>
          </p:cNvPr>
          <p:cNvSpPr txBox="1"/>
          <p:nvPr/>
        </p:nvSpPr>
        <p:spPr>
          <a:xfrm>
            <a:off x="9718040" y="2389917"/>
            <a:ext cx="584200" cy="374461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2100" b="1">
                <a:solidFill>
                  <a:srgbClr val="2F7CF6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100" b="1">
              <a:solidFill>
                <a:srgbClr val="2F7C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BAF2D85-401B-29ED-8EDD-8E6E318EC21B}"/>
              </a:ext>
            </a:extLst>
          </p:cNvPr>
          <p:cNvSpPr txBox="1"/>
          <p:nvPr/>
        </p:nvSpPr>
        <p:spPr>
          <a:xfrm>
            <a:off x="9718040" y="3071083"/>
            <a:ext cx="183896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只生成一章试跑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383693A-17A4-3A45-9E73-070BED48DBA5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B458436-32BE-CB7E-FB4B-E9B4D0EDE6F4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第一次不要直接运行很多章。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E7395F8-5361-6A2B-3C08-A104A915CC4E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4074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38F149-AC9E-353D-AAA0-68B8022F64C5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8EB61A-23A5-69EA-C21A-F5AB55A368F3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新建和导入后，都要先检查作品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11A18D-D8EB-43B7-C888-74A7BE76007E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44C41C-C151-CB32-AF0E-4A875758A128}"/>
              </a:ext>
            </a:extLst>
          </p:cNvPr>
          <p:cNvSpPr/>
          <p:nvPr/>
        </p:nvSpPr>
        <p:spPr>
          <a:xfrm>
            <a:off x="482600" y="1816100"/>
            <a:ext cx="53975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A72ED0-5F27-1D48-F318-9EF730DA87EE}"/>
              </a:ext>
            </a:extLst>
          </p:cNvPr>
          <p:cNvSpPr/>
          <p:nvPr/>
        </p:nvSpPr>
        <p:spPr>
          <a:xfrm>
            <a:off x="482600" y="1816100"/>
            <a:ext cx="63500" cy="3111500"/>
          </a:xfrm>
          <a:prstGeom prst="rect">
            <a:avLst/>
          </a:prstGeom>
          <a:solidFill>
            <a:srgbClr val="2F7CF6"/>
          </a:solidFill>
          <a:ln w="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29FE9A-19E1-5853-70FB-2BF6355F8C3A}"/>
              </a:ext>
            </a:extLst>
          </p:cNvPr>
          <p:cNvSpPr txBox="1"/>
          <p:nvPr/>
        </p:nvSpPr>
        <p:spPr>
          <a:xfrm>
            <a:off x="711200" y="1950794"/>
            <a:ext cx="50165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新建空白作品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D5ADCE-E92A-1B0D-82F6-F50572108C38}"/>
              </a:ext>
            </a:extLst>
          </p:cNvPr>
          <p:cNvSpPr txBox="1"/>
          <p:nvPr/>
        </p:nvSpPr>
        <p:spPr>
          <a:xfrm>
            <a:off x="711200" y="2520434"/>
            <a:ext cx="50165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在书架选择新建作品
创建第一章
先写一小段并确认保存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0EFF5F-6636-C260-071B-B281F705180D}"/>
              </a:ext>
            </a:extLst>
          </p:cNvPr>
          <p:cNvSpPr/>
          <p:nvPr/>
        </p:nvSpPr>
        <p:spPr>
          <a:xfrm>
            <a:off x="6121400" y="1816100"/>
            <a:ext cx="55880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1D2D760-0FBB-C617-7429-C8C2D972E2DB}"/>
              </a:ext>
            </a:extLst>
          </p:cNvPr>
          <p:cNvSpPr/>
          <p:nvPr/>
        </p:nvSpPr>
        <p:spPr>
          <a:xfrm>
            <a:off x="6121400" y="1816100"/>
            <a:ext cx="63500" cy="3111500"/>
          </a:xfrm>
          <a:prstGeom prst="rect">
            <a:avLst/>
          </a:prstGeom>
          <a:solidFill>
            <a:srgbClr val="2E9D72"/>
          </a:solidFill>
          <a:ln w="0">
            <a:solidFill>
              <a:srgbClr val="2E9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1F99AF6-C214-85C2-2F93-CE822B587A9B}"/>
              </a:ext>
            </a:extLst>
          </p:cNvPr>
          <p:cNvSpPr txBox="1"/>
          <p:nvPr/>
        </p:nvSpPr>
        <p:spPr>
          <a:xfrm>
            <a:off x="6350000" y="1950794"/>
            <a:ext cx="52070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导入已有 </a:t>
            </a:r>
            <a:r>
              <a:rPr lang="en-US" altLang="zh-CN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TXT</a:t>
            </a:r>
            <a:endParaRPr lang="zh-CN" altLang="en-US" sz="1700" b="1">
              <a:solidFill>
                <a:srgbClr val="1721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C1BBC69-4418-FC4B-628D-131B085683BD}"/>
              </a:ext>
            </a:extLst>
          </p:cNvPr>
          <p:cNvSpPr txBox="1"/>
          <p:nvPr/>
        </p:nvSpPr>
        <p:spPr>
          <a:xfrm>
            <a:off x="6350000" y="2520434"/>
            <a:ext cx="52070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导入前备份并整理章节标题
抽查首章、中间章和末章
检查乱码、漏章和顺序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B81929-B7A2-767D-15C3-B116C9A5A156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F49DE5C-B727-91B1-5897-F023852ABEDC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拆章有问题时先修复，不要马上初始化。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DA17D2F-6434-7428-21F7-B8D8AE6388D2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6294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1BB5740-37F4-279F-D754-9E2CC61D5929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3413AD-62FA-A288-581F-F209AC1E1CE5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模型配置只需按顺序完成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B3F26E-9AB8-3FBF-95BF-9F24CA92BD9C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9B3C32-511E-EEB1-2C8D-E9ECB823685A}"/>
              </a:ext>
            </a:extLst>
          </p:cNvPr>
          <p:cNvSpPr txBox="1"/>
          <p:nvPr/>
        </p:nvSpPr>
        <p:spPr>
          <a:xfrm>
            <a:off x="673100" y="1730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2F7CF6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8DF694-3FD9-321A-D6BE-AA2E1F7AFEFF}"/>
              </a:ext>
            </a:extLst>
          </p:cNvPr>
          <p:cNvSpPr txBox="1"/>
          <p:nvPr/>
        </p:nvSpPr>
        <p:spPr>
          <a:xfrm>
            <a:off x="990600" y="1699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进入“设置中心 → </a:t>
            </a:r>
            <a:r>
              <a:rPr lang="en-US" altLang="zh-CN" sz="1500">
                <a:solidFill>
                  <a:srgbClr val="17212B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设置”，添加或选择模型服务。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9C7781-6B79-78AE-C84C-F89CC3310F1E}"/>
              </a:ext>
            </a:extLst>
          </p:cNvPr>
          <p:cNvSpPr txBox="1"/>
          <p:nvPr/>
        </p:nvSpPr>
        <p:spPr>
          <a:xfrm>
            <a:off x="673100" y="2301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7C098C5-D33D-1E2B-6E83-19B710AFB08F}"/>
              </a:ext>
            </a:extLst>
          </p:cNvPr>
          <p:cNvSpPr txBox="1"/>
          <p:nvPr/>
        </p:nvSpPr>
        <p:spPr>
          <a:xfrm>
            <a:off x="990600" y="2270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填写默认模型、服务密钥，以及服务要求的地址。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BDDB8FD-B89D-1FC0-6066-C14976920F8D}"/>
              </a:ext>
            </a:extLst>
          </p:cNvPr>
          <p:cNvSpPr txBox="1"/>
          <p:nvPr/>
        </p:nvSpPr>
        <p:spPr>
          <a:xfrm>
            <a:off x="673100" y="2873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7B6F1D1-B183-8ABD-641E-BD1585043B8A}"/>
              </a:ext>
            </a:extLst>
          </p:cNvPr>
          <p:cNvSpPr txBox="1"/>
          <p:nvPr/>
        </p:nvSpPr>
        <p:spPr>
          <a:xfrm>
            <a:off x="990600" y="2842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点击“测试连接”；成功后再配置任务模型。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B65BB51-A807-1B6C-CF7A-7BF5E8B39A4F}"/>
              </a:ext>
            </a:extLst>
          </p:cNvPr>
          <p:cNvSpPr txBox="1"/>
          <p:nvPr/>
        </p:nvSpPr>
        <p:spPr>
          <a:xfrm>
            <a:off x="673100" y="3444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C76800-EB43-A37D-48DC-A917318CA5F0}"/>
              </a:ext>
            </a:extLst>
          </p:cNvPr>
          <p:cNvSpPr txBox="1"/>
          <p:nvPr/>
        </p:nvSpPr>
        <p:spPr>
          <a:xfrm>
            <a:off x="990600" y="3413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为分析、规划、写作、审阅和重写任务选择模型。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A65D3F0-5CE2-DA8B-C7CA-E15F6006CE45}"/>
              </a:ext>
            </a:extLst>
          </p:cNvPr>
          <p:cNvSpPr txBox="1"/>
          <p:nvPr/>
        </p:nvSpPr>
        <p:spPr>
          <a:xfrm>
            <a:off x="673100" y="4016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A02E149-4708-A46D-7403-CB3FEF58FB02}"/>
              </a:ext>
            </a:extLst>
          </p:cNvPr>
          <p:cNvSpPr txBox="1"/>
          <p:nvPr/>
        </p:nvSpPr>
        <p:spPr>
          <a:xfrm>
            <a:off x="990600" y="3985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确认分析和写作任务可用，最后保存 </a:t>
            </a:r>
            <a:r>
              <a:rPr lang="en-US" altLang="zh-CN" sz="1500">
                <a:solidFill>
                  <a:srgbClr val="17212B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配置。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A10B905-2492-13E5-59AE-775A0756F7DD}"/>
              </a:ext>
            </a:extLst>
          </p:cNvPr>
          <p:cNvSpPr txBox="1"/>
          <p:nvPr/>
        </p:nvSpPr>
        <p:spPr>
          <a:xfrm>
            <a:off x="673100" y="4587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5F55B0A-0B97-A8F0-9159-E7E0D692CA4F}"/>
              </a:ext>
            </a:extLst>
          </p:cNvPr>
          <p:cNvSpPr txBox="1"/>
          <p:nvPr/>
        </p:nvSpPr>
        <p:spPr>
          <a:xfrm>
            <a:off x="990600" y="4556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失败时检查密钥、模型名称、地址、账户权限和网络。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0D52584-1D6E-580E-7556-42C1295F586E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2E6D667-9DA3-C205-7ECE-B97750C3FFDC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模型密钥只填在设置页。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BC73003-E250-0285-0EE1-9FB8E5B9B461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8046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3221925-EF36-EF2B-7802-3CF8204BFDB9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1F9105-5489-68A5-A0B0-5708CF670067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写作助手可以在设置中心直接开关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814557-9B57-4A80-976C-D7C0CF37FE8B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9DFF77-F9DF-A708-4A09-CC6AF793F1B8}"/>
              </a:ext>
            </a:extLst>
          </p:cNvPr>
          <p:cNvSpPr/>
          <p:nvPr/>
        </p:nvSpPr>
        <p:spPr>
          <a:xfrm>
            <a:off x="482600" y="1816100"/>
            <a:ext cx="53975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4597DA-4735-D22A-E9B7-3BC11C9F3DA4}"/>
              </a:ext>
            </a:extLst>
          </p:cNvPr>
          <p:cNvSpPr/>
          <p:nvPr/>
        </p:nvSpPr>
        <p:spPr>
          <a:xfrm>
            <a:off x="482600" y="1816100"/>
            <a:ext cx="63500" cy="3111500"/>
          </a:xfrm>
          <a:prstGeom prst="rect">
            <a:avLst/>
          </a:prstGeom>
          <a:solidFill>
            <a:srgbClr val="2F7CF6"/>
          </a:solidFill>
          <a:ln w="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2679795-9F03-F722-460B-7F5E6CD42BD1}"/>
              </a:ext>
            </a:extLst>
          </p:cNvPr>
          <p:cNvSpPr txBox="1"/>
          <p:nvPr/>
        </p:nvSpPr>
        <p:spPr>
          <a:xfrm>
            <a:off x="711200" y="1950794"/>
            <a:ext cx="50165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新手先打开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B329B1-4A65-B657-60FE-DAC05A564ECF}"/>
              </a:ext>
            </a:extLst>
          </p:cNvPr>
          <p:cNvSpPr txBox="1"/>
          <p:nvPr/>
        </p:nvSpPr>
        <p:spPr>
          <a:xfrm>
            <a:off x="711200" y="2520434"/>
            <a:ext cx="50165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接着写、选区改写
大纲辅助、引用来源
</a:t>
            </a:r>
            <a:r>
              <a:rPr lang="en-US" altLang="zh-CN" sz="1400">
                <a:solidFill>
                  <a:srgbClr val="65727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用量与预算、创作分析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BA968A6-3F7C-4196-2B6F-DE9B714F52B3}"/>
              </a:ext>
            </a:extLst>
          </p:cNvPr>
          <p:cNvSpPr/>
          <p:nvPr/>
        </p:nvSpPr>
        <p:spPr>
          <a:xfrm>
            <a:off x="6121400" y="1816100"/>
            <a:ext cx="55880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E0B218-FFA8-2672-08FC-F4200FC035E2}"/>
              </a:ext>
            </a:extLst>
          </p:cNvPr>
          <p:cNvSpPr/>
          <p:nvPr/>
        </p:nvSpPr>
        <p:spPr>
          <a:xfrm>
            <a:off x="6121400" y="1816100"/>
            <a:ext cx="63500" cy="3111500"/>
          </a:xfrm>
          <a:prstGeom prst="rect">
            <a:avLst/>
          </a:prstGeom>
          <a:solidFill>
            <a:srgbClr val="2E9D72"/>
          </a:solidFill>
          <a:ln w="0">
            <a:solidFill>
              <a:srgbClr val="2E9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C965AC2-D5B5-D6E0-22B2-A2CB20F924A9}"/>
              </a:ext>
            </a:extLst>
          </p:cNvPr>
          <p:cNvSpPr txBox="1"/>
          <p:nvPr/>
        </p:nvSpPr>
        <p:spPr>
          <a:xfrm>
            <a:off x="6350000" y="1950794"/>
            <a:ext cx="52070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熟悉后再打开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AAAEBB6-7C37-7051-4F64-9860626A8EF0}"/>
              </a:ext>
            </a:extLst>
          </p:cNvPr>
          <p:cNvSpPr txBox="1"/>
          <p:nvPr/>
        </p:nvSpPr>
        <p:spPr>
          <a:xfrm>
            <a:off x="6350000" y="2520434"/>
            <a:ext cx="52070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多章续写和自动续写
</a:t>
            </a:r>
            <a:r>
              <a:rPr lang="en-US" altLang="zh-CN" sz="1400">
                <a:solidFill>
                  <a:srgbClr val="65727E"/>
                </a:solidFill>
                <a:latin typeface="Microsoft YaHei" panose="020B0503020204020204" pitchFamily="34" charset="-122"/>
              </a:rPr>
              <a:t>@</a:t>
            </a:r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引用和风格画像
开篇助手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34552EA-8D6B-1414-8F96-7DD0274FEE90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7C2E6FD-6768-2541-AE98-0EB647773E3F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开关不会绕过确认，也不会删除历史数据。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1BF7E38-3D6D-678F-73AD-803A5A716FC1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1146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AB9261F-3FE9-741D-F52B-69316CE724FA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DADE24-CF5A-B4B2-C034-911EAAB908F9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写作台按“章节</a:t>
            </a:r>
            <a:r>
              <a:rPr lang="en-US" altLang="zh-CN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正文</a:t>
            </a:r>
            <a:r>
              <a:rPr lang="en-US" altLang="zh-CN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辅助”理解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ABEA33-2E05-0612-390A-4BCA322C1DB3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929951-B2F9-30AC-5FEA-6B596C9059A1}"/>
              </a:ext>
            </a:extLst>
          </p:cNvPr>
          <p:cNvSpPr/>
          <p:nvPr/>
        </p:nvSpPr>
        <p:spPr>
          <a:xfrm>
            <a:off x="482600" y="1816100"/>
            <a:ext cx="53975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5D33FD-B7AA-718A-E61B-28216AF5919A}"/>
              </a:ext>
            </a:extLst>
          </p:cNvPr>
          <p:cNvSpPr/>
          <p:nvPr/>
        </p:nvSpPr>
        <p:spPr>
          <a:xfrm>
            <a:off x="482600" y="1816100"/>
            <a:ext cx="63500" cy="3111500"/>
          </a:xfrm>
          <a:prstGeom prst="rect">
            <a:avLst/>
          </a:prstGeom>
          <a:solidFill>
            <a:srgbClr val="2F7CF6"/>
          </a:solidFill>
          <a:ln w="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4CE762-C4EB-2FF8-D7BE-5084248CDABB}"/>
              </a:ext>
            </a:extLst>
          </p:cNvPr>
          <p:cNvSpPr txBox="1"/>
          <p:nvPr/>
        </p:nvSpPr>
        <p:spPr>
          <a:xfrm>
            <a:off x="711200" y="1950794"/>
            <a:ext cx="50165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左侧和中间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C583CE5-0EC7-CADD-6172-6D57DE83D351}"/>
              </a:ext>
            </a:extLst>
          </p:cNvPr>
          <p:cNvSpPr txBox="1"/>
          <p:nvPr/>
        </p:nvSpPr>
        <p:spPr>
          <a:xfrm>
            <a:off x="711200" y="2520434"/>
            <a:ext cx="50165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左侧选择和管理章节
中间编辑正式正文
启动 </a:t>
            </a:r>
            <a:r>
              <a:rPr lang="en-US" altLang="zh-CN" sz="1400">
                <a:solidFill>
                  <a:srgbClr val="65727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前先确认选对章节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1056AE-A242-0A61-F713-CF332B3640F3}"/>
              </a:ext>
            </a:extLst>
          </p:cNvPr>
          <p:cNvSpPr/>
          <p:nvPr/>
        </p:nvSpPr>
        <p:spPr>
          <a:xfrm>
            <a:off x="6121400" y="1816100"/>
            <a:ext cx="55880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324500-B6CF-2C6C-A7C7-DED549E63F6A}"/>
              </a:ext>
            </a:extLst>
          </p:cNvPr>
          <p:cNvSpPr/>
          <p:nvPr/>
        </p:nvSpPr>
        <p:spPr>
          <a:xfrm>
            <a:off x="6121400" y="1816100"/>
            <a:ext cx="63500" cy="3111500"/>
          </a:xfrm>
          <a:prstGeom prst="rect">
            <a:avLst/>
          </a:prstGeom>
          <a:solidFill>
            <a:srgbClr val="2E9D72"/>
          </a:solidFill>
          <a:ln w="0">
            <a:solidFill>
              <a:srgbClr val="2E9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8F649C4-AB8F-B560-6732-AA94DAF70341}"/>
              </a:ext>
            </a:extLst>
          </p:cNvPr>
          <p:cNvSpPr txBox="1"/>
          <p:nvPr/>
        </p:nvSpPr>
        <p:spPr>
          <a:xfrm>
            <a:off x="6350000" y="1950794"/>
            <a:ext cx="52070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右侧工作区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CE65FE-77C2-892A-7AED-E798CE6D78D4}"/>
              </a:ext>
            </a:extLst>
          </p:cNvPr>
          <p:cNvSpPr txBox="1"/>
          <p:nvPr/>
        </p:nvSpPr>
        <p:spPr>
          <a:xfrm>
            <a:off x="6350000" y="2520434"/>
            <a:ext cx="52070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管理大纲、人物、时间线和伏笔
使用 </a:t>
            </a:r>
            <a:r>
              <a:rPr lang="en-US" altLang="zh-CN" sz="1400">
                <a:solidFill>
                  <a:srgbClr val="65727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助手
集中处理候选稿、冲突和记忆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A63863E-4BCA-656A-D38A-94AC418B1823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D2E25F6-2CCE-F72A-4DC3-F0B88E1E8E80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切换工具前，如有未保存修改，先保存或明确放弃。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B9DE7A2-C512-94FF-59CC-CEC63B332ABE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7011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CAD2646-2096-8228-116B-AE76F1BB2CC8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0987EB5-C8AF-C026-4E2A-0A86066DFC90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保存状态决定你下一步该做什么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342F3C-741A-5356-531A-900D48E3DDE9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765865-D38A-1CD1-23B5-8DF517BEAE04}"/>
              </a:ext>
            </a:extLst>
          </p:cNvPr>
          <p:cNvSpPr/>
          <p:nvPr/>
        </p:nvSpPr>
        <p:spPr>
          <a:xfrm>
            <a:off x="482600" y="1816100"/>
            <a:ext cx="53975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C5FEA13-6582-F84B-5153-82783D9C6297}"/>
              </a:ext>
            </a:extLst>
          </p:cNvPr>
          <p:cNvSpPr/>
          <p:nvPr/>
        </p:nvSpPr>
        <p:spPr>
          <a:xfrm>
            <a:off x="482600" y="1816100"/>
            <a:ext cx="63500" cy="3111500"/>
          </a:xfrm>
          <a:prstGeom prst="rect">
            <a:avLst/>
          </a:prstGeom>
          <a:solidFill>
            <a:srgbClr val="2F7CF6"/>
          </a:solidFill>
          <a:ln w="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06262EC-4F8D-0702-CF01-63AACFD4FC8C}"/>
              </a:ext>
            </a:extLst>
          </p:cNvPr>
          <p:cNvSpPr txBox="1"/>
          <p:nvPr/>
        </p:nvSpPr>
        <p:spPr>
          <a:xfrm>
            <a:off x="711200" y="1950794"/>
            <a:ext cx="50165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可以继续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9146E0-D15E-69F8-BFC7-AB1023D5FDF9}"/>
              </a:ext>
            </a:extLst>
          </p:cNvPr>
          <p:cNvSpPr txBox="1"/>
          <p:nvPr/>
        </p:nvSpPr>
        <p:spPr>
          <a:xfrm>
            <a:off x="711200" y="2520434"/>
            <a:ext cx="50165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已保存：可以切章或关闭
保存中：等待几秒
当前离线：恢复网络后确认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5BBDCF-D2F5-8C8A-0F7F-A3B95037942D}"/>
              </a:ext>
            </a:extLst>
          </p:cNvPr>
          <p:cNvSpPr/>
          <p:nvPr/>
        </p:nvSpPr>
        <p:spPr>
          <a:xfrm>
            <a:off x="6121400" y="1816100"/>
            <a:ext cx="55880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522966-F0DF-F15B-FE90-8634C5EDA142}"/>
              </a:ext>
            </a:extLst>
          </p:cNvPr>
          <p:cNvSpPr/>
          <p:nvPr/>
        </p:nvSpPr>
        <p:spPr>
          <a:xfrm>
            <a:off x="6121400" y="1816100"/>
            <a:ext cx="63500" cy="3111500"/>
          </a:xfrm>
          <a:prstGeom prst="rect">
            <a:avLst/>
          </a:prstGeom>
          <a:solidFill>
            <a:srgbClr val="2E9D72"/>
          </a:solidFill>
          <a:ln w="0">
            <a:solidFill>
              <a:srgbClr val="2E9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C760BA9-0A1F-0ADD-3723-4531B506C44B}"/>
              </a:ext>
            </a:extLst>
          </p:cNvPr>
          <p:cNvSpPr txBox="1"/>
          <p:nvPr/>
        </p:nvSpPr>
        <p:spPr>
          <a:xfrm>
            <a:off x="6350000" y="1950794"/>
            <a:ext cx="52070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必须处理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023909-E544-D6F1-6092-97F3DE82ADB5}"/>
              </a:ext>
            </a:extLst>
          </p:cNvPr>
          <p:cNvSpPr txBox="1"/>
          <p:nvPr/>
        </p:nvSpPr>
        <p:spPr>
          <a:xfrm>
            <a:off x="6350000" y="2520434"/>
            <a:ext cx="52070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保存失败：按提示重试
版本冲突：选择本地或服务器版本
不确定时先复制重要内容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AEFD0B-6CC1-0E47-A9A7-232D85E7B6F0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F04E72-875B-20FA-6A8D-2633AD7DC48C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不要靠反复刷新解决冲突。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D770B0E-01FB-4A83-199A-08B7AF3789A1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5100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4B4FD7B-6B09-372C-775E-E9BE0E12614D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D5D193-5336-A47F-E73A-DD3532114AC4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已有多章正文时，先做初始化分析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5B2686-5194-CF6D-1192-4D523FDA249C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E996D9-6102-5790-59E9-38BA4D92233C}"/>
              </a:ext>
            </a:extLst>
          </p:cNvPr>
          <p:cNvSpPr txBox="1"/>
          <p:nvPr/>
        </p:nvSpPr>
        <p:spPr>
          <a:xfrm>
            <a:off x="673100" y="1730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2F7CF6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E9F57A-FA14-B6D5-23AC-FF752EA6B23B}"/>
              </a:ext>
            </a:extLst>
          </p:cNvPr>
          <p:cNvSpPr txBox="1"/>
          <p:nvPr/>
        </p:nvSpPr>
        <p:spPr>
          <a:xfrm>
            <a:off x="990600" y="1699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打开作品和有效章节，进入右侧“</a:t>
            </a:r>
            <a:r>
              <a:rPr lang="en-US" altLang="zh-CN" sz="1500">
                <a:solidFill>
                  <a:srgbClr val="17212B"/>
                </a:solidFill>
                <a:latin typeface="Microsoft YaHei" panose="020B0503020204020204" pitchFamily="34" charset="-122"/>
              </a:rPr>
              <a:t>AI”</a:t>
            </a:r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C3E912-747D-4202-B31B-EEE65B0FEA74}"/>
              </a:ext>
            </a:extLst>
          </p:cNvPr>
          <p:cNvSpPr txBox="1"/>
          <p:nvPr/>
        </p:nvSpPr>
        <p:spPr>
          <a:xfrm>
            <a:off x="673100" y="2301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8EA8CD-342A-AE11-DE2C-90D868410532}"/>
              </a:ext>
            </a:extLst>
          </p:cNvPr>
          <p:cNvSpPr txBox="1"/>
          <p:nvPr/>
        </p:nvSpPr>
        <p:spPr>
          <a:xfrm>
            <a:off x="990600" y="2270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确认使用前检查显示模型配置已完成。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96F79E-20DF-E1C6-C301-9B10BA7EC2EE}"/>
              </a:ext>
            </a:extLst>
          </p:cNvPr>
          <p:cNvSpPr txBox="1"/>
          <p:nvPr/>
        </p:nvSpPr>
        <p:spPr>
          <a:xfrm>
            <a:off x="673100" y="2873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DBC0AA-DAF6-D901-9523-7FB670C1B975}"/>
              </a:ext>
            </a:extLst>
          </p:cNvPr>
          <p:cNvSpPr txBox="1"/>
          <p:nvPr/>
        </p:nvSpPr>
        <p:spPr>
          <a:xfrm>
            <a:off x="990600" y="2842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在“初始化分析”点击“启动初始化”。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72C471-AB4C-880D-8804-7EE6B182619C}"/>
              </a:ext>
            </a:extLst>
          </p:cNvPr>
          <p:cNvSpPr txBox="1"/>
          <p:nvPr/>
        </p:nvSpPr>
        <p:spPr>
          <a:xfrm>
            <a:off x="673100" y="3444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BA2C773-8F43-0E88-62A1-A214E1C95614}"/>
              </a:ext>
            </a:extLst>
          </p:cNvPr>
          <p:cNvSpPr txBox="1"/>
          <p:nvPr/>
        </p:nvSpPr>
        <p:spPr>
          <a:xfrm>
            <a:off x="990600" y="3413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观察成功、空章节和失败章节数量。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E8A27F4-006E-DEC9-8C1C-7845E569D8DE}"/>
              </a:ext>
            </a:extLst>
          </p:cNvPr>
          <p:cNvSpPr txBox="1"/>
          <p:nvPr/>
        </p:nvSpPr>
        <p:spPr>
          <a:xfrm>
            <a:off x="673100" y="4016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88D93DB-2F08-C53F-DAA8-DB5A9C48EE52}"/>
              </a:ext>
            </a:extLst>
          </p:cNvPr>
          <p:cNvSpPr txBox="1"/>
          <p:nvPr/>
        </p:nvSpPr>
        <p:spPr>
          <a:xfrm>
            <a:off x="990600" y="3985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任务可以暂停、继续、取消；失败后可重试。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D530640-FE05-3CAC-9E4A-6EACC7849C51}"/>
              </a:ext>
            </a:extLst>
          </p:cNvPr>
          <p:cNvSpPr txBox="1"/>
          <p:nvPr/>
        </p:nvSpPr>
        <p:spPr>
          <a:xfrm>
            <a:off x="673100" y="4587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BA695FA-4617-3A67-33C6-94126C6D8A86}"/>
              </a:ext>
            </a:extLst>
          </p:cNvPr>
          <p:cNvSpPr txBox="1"/>
          <p:nvPr/>
        </p:nvSpPr>
        <p:spPr>
          <a:xfrm>
            <a:off x="990600" y="4556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空章节不是程序故障，失败章节才需要检查。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FA3EAB4-989C-9BCB-E450-DFE7BE837820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237328-822D-7E63-42F4-530FE53E630E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初始化不会生成或修改正式正文。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83C4176-ED3E-F95E-CA5D-9F7E31CC4B61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6494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FF3AEB8-355E-5896-4637-95F78D508645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581238-C55E-55C0-3379-01E7B2EB8FE3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续写前，先构建当前章节的写作上下文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7366F1-152B-31C0-36F2-0BB3351F6B28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6DA607-9CC9-E99A-5FA4-1ABE46C49671}"/>
              </a:ext>
            </a:extLst>
          </p:cNvPr>
          <p:cNvSpPr/>
          <p:nvPr/>
        </p:nvSpPr>
        <p:spPr>
          <a:xfrm>
            <a:off x="482600" y="1816100"/>
            <a:ext cx="53975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94F95F-0618-4DFE-12A0-9B5A3BC76241}"/>
              </a:ext>
            </a:extLst>
          </p:cNvPr>
          <p:cNvSpPr/>
          <p:nvPr/>
        </p:nvSpPr>
        <p:spPr>
          <a:xfrm>
            <a:off x="482600" y="1816100"/>
            <a:ext cx="63500" cy="3111500"/>
          </a:xfrm>
          <a:prstGeom prst="rect">
            <a:avLst/>
          </a:prstGeom>
          <a:solidFill>
            <a:srgbClr val="2F7CF6"/>
          </a:solidFill>
          <a:ln w="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B02965-196F-047A-40CE-28627F61FF3B}"/>
              </a:ext>
            </a:extLst>
          </p:cNvPr>
          <p:cNvSpPr txBox="1"/>
          <p:nvPr/>
        </p:nvSpPr>
        <p:spPr>
          <a:xfrm>
            <a:off x="711200" y="1950794"/>
            <a:ext cx="50165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显示可继续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DCA3B64-E82F-7242-0103-0E40F3DA987A}"/>
              </a:ext>
            </a:extLst>
          </p:cNvPr>
          <p:cNvSpPr txBox="1"/>
          <p:nvPr/>
        </p:nvSpPr>
        <p:spPr>
          <a:xfrm>
            <a:off x="711200" y="2520434"/>
            <a:ext cx="50165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前文和资料已整理
可以进入方向与计划
仍要核对实际意图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0B2B6-7790-884A-1949-A5387D17BEDB}"/>
              </a:ext>
            </a:extLst>
          </p:cNvPr>
          <p:cNvSpPr/>
          <p:nvPr/>
        </p:nvSpPr>
        <p:spPr>
          <a:xfrm>
            <a:off x="6121400" y="1816100"/>
            <a:ext cx="55880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17303EF-E46E-18C2-8C50-1128A977B451}"/>
              </a:ext>
            </a:extLst>
          </p:cNvPr>
          <p:cNvSpPr/>
          <p:nvPr/>
        </p:nvSpPr>
        <p:spPr>
          <a:xfrm>
            <a:off x="6121400" y="1816100"/>
            <a:ext cx="63500" cy="3111500"/>
          </a:xfrm>
          <a:prstGeom prst="rect">
            <a:avLst/>
          </a:prstGeom>
          <a:solidFill>
            <a:srgbClr val="2E9D72"/>
          </a:solidFill>
          <a:ln w="0">
            <a:solidFill>
              <a:srgbClr val="2E9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CA4555-32D6-5971-AD79-800F13756EFC}"/>
              </a:ext>
            </a:extLst>
          </p:cNvPr>
          <p:cNvSpPr txBox="1"/>
          <p:nvPr/>
        </p:nvSpPr>
        <p:spPr>
          <a:xfrm>
            <a:off x="6350000" y="1950794"/>
            <a:ext cx="52070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受限或无法继续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BE65DF8-2744-19BF-B8FC-26D3975C34AA}"/>
              </a:ext>
            </a:extLst>
          </p:cNvPr>
          <p:cNvSpPr txBox="1"/>
          <p:nvPr/>
        </p:nvSpPr>
        <p:spPr>
          <a:xfrm>
            <a:off x="6350000" y="2520434"/>
            <a:ext cx="52070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补选章节、正文、大纲或人物
确认计划，处理预算或冲突
处理后重新构建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9B7732-628C-8D54-07AE-6D9ACEC7C49F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3DAA09-AAC0-8E7A-88AD-6A2D4B472D06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写作上下文是本次任务的资料包。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D50F1D-589D-00AB-4E5C-47701C55B3F4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7531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BCEBC9D-47C4-4DCD-80C8-11FF2B2021F9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22F3AD-A7B2-BCB0-F37D-F478C2E7875E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一章候选稿的完整流程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46F789-E8C4-DEC7-BEAF-E848AE6F45DC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1F687C-CE49-DF94-FEAF-0ACEC831DDC4}"/>
              </a:ext>
            </a:extLst>
          </p:cNvPr>
          <p:cNvSpPr/>
          <p:nvPr/>
        </p:nvSpPr>
        <p:spPr>
          <a:xfrm>
            <a:off x="482600" y="2222500"/>
            <a:ext cx="1765300" cy="21590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E4CD30-B0AB-82AA-F21D-32C23E975E0D}"/>
              </a:ext>
            </a:extLst>
          </p:cNvPr>
          <p:cNvSpPr txBox="1"/>
          <p:nvPr/>
        </p:nvSpPr>
        <p:spPr>
          <a:xfrm>
            <a:off x="635000" y="2389917"/>
            <a:ext cx="584200" cy="374461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2100" b="1">
                <a:solidFill>
                  <a:srgbClr val="65727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1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51E039-B945-4F47-8ED8-0A86173B1A18}"/>
              </a:ext>
            </a:extLst>
          </p:cNvPr>
          <p:cNvSpPr txBox="1"/>
          <p:nvPr/>
        </p:nvSpPr>
        <p:spPr>
          <a:xfrm>
            <a:off x="635000" y="3071083"/>
            <a:ext cx="14605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构建上下文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3B266E-34DF-E514-A8B8-10475C2CF37F}"/>
              </a:ext>
            </a:extLst>
          </p:cNvPr>
          <p:cNvSpPr/>
          <p:nvPr/>
        </p:nvSpPr>
        <p:spPr>
          <a:xfrm>
            <a:off x="2374900" y="2222500"/>
            <a:ext cx="1765300" cy="21590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A6944E-14CF-E988-169D-4FD07BDD9A6E}"/>
              </a:ext>
            </a:extLst>
          </p:cNvPr>
          <p:cNvSpPr txBox="1"/>
          <p:nvPr/>
        </p:nvSpPr>
        <p:spPr>
          <a:xfrm>
            <a:off x="2527300" y="2389917"/>
            <a:ext cx="584200" cy="374461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2100" b="1">
                <a:solidFill>
                  <a:srgbClr val="65727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1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C1D9581-859E-AA9B-71BC-E1A5F16F24B6}"/>
              </a:ext>
            </a:extLst>
          </p:cNvPr>
          <p:cNvSpPr txBox="1"/>
          <p:nvPr/>
        </p:nvSpPr>
        <p:spPr>
          <a:xfrm>
            <a:off x="2527300" y="3071083"/>
            <a:ext cx="14605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选择方向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0E05E51-606C-C1BB-6B15-DF73AF7A55B9}"/>
              </a:ext>
            </a:extLst>
          </p:cNvPr>
          <p:cNvSpPr/>
          <p:nvPr/>
        </p:nvSpPr>
        <p:spPr>
          <a:xfrm>
            <a:off x="4267200" y="2222500"/>
            <a:ext cx="1765300" cy="21590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7D7490-71B4-317A-155A-884EF4E89C9F}"/>
              </a:ext>
            </a:extLst>
          </p:cNvPr>
          <p:cNvSpPr txBox="1"/>
          <p:nvPr/>
        </p:nvSpPr>
        <p:spPr>
          <a:xfrm>
            <a:off x="4419600" y="2389917"/>
            <a:ext cx="584200" cy="374461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2100" b="1">
                <a:solidFill>
                  <a:srgbClr val="65727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1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2A11B63-6A62-0884-AE88-159B184A518E}"/>
              </a:ext>
            </a:extLst>
          </p:cNvPr>
          <p:cNvSpPr txBox="1"/>
          <p:nvPr/>
        </p:nvSpPr>
        <p:spPr>
          <a:xfrm>
            <a:off x="4419600" y="3071083"/>
            <a:ext cx="14605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确认计划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224633-530B-3186-0741-AD6BBB1A6D33}"/>
              </a:ext>
            </a:extLst>
          </p:cNvPr>
          <p:cNvSpPr/>
          <p:nvPr/>
        </p:nvSpPr>
        <p:spPr>
          <a:xfrm>
            <a:off x="6159500" y="2222500"/>
            <a:ext cx="1765300" cy="21590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386EA49-D5D3-D027-4E7D-986103DAAC2B}"/>
              </a:ext>
            </a:extLst>
          </p:cNvPr>
          <p:cNvSpPr txBox="1"/>
          <p:nvPr/>
        </p:nvSpPr>
        <p:spPr>
          <a:xfrm>
            <a:off x="6311900" y="2389917"/>
            <a:ext cx="584200" cy="374461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2100" b="1">
                <a:solidFill>
                  <a:srgbClr val="65727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1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E0EA60E-11E5-555D-F3C8-63E6FA7D9C3B}"/>
              </a:ext>
            </a:extLst>
          </p:cNvPr>
          <p:cNvSpPr txBox="1"/>
          <p:nvPr/>
        </p:nvSpPr>
        <p:spPr>
          <a:xfrm>
            <a:off x="6311900" y="3071083"/>
            <a:ext cx="14605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生成候选稿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A6137F3-7222-B602-F7FD-6B2A316A1BBB}"/>
              </a:ext>
            </a:extLst>
          </p:cNvPr>
          <p:cNvSpPr/>
          <p:nvPr/>
        </p:nvSpPr>
        <p:spPr>
          <a:xfrm>
            <a:off x="8051800" y="2222500"/>
            <a:ext cx="1765300" cy="21590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E0393EB-368A-C4B9-0931-95B4B8CEE189}"/>
              </a:ext>
            </a:extLst>
          </p:cNvPr>
          <p:cNvSpPr txBox="1"/>
          <p:nvPr/>
        </p:nvSpPr>
        <p:spPr>
          <a:xfrm>
            <a:off x="8204200" y="2389917"/>
            <a:ext cx="584200" cy="374461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2100" b="1">
                <a:solidFill>
                  <a:srgbClr val="65727E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1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E6EBFCD-2417-14CC-C7E8-2B73F1B3724A}"/>
              </a:ext>
            </a:extLst>
          </p:cNvPr>
          <p:cNvSpPr txBox="1"/>
          <p:nvPr/>
        </p:nvSpPr>
        <p:spPr>
          <a:xfrm>
            <a:off x="8204200" y="3071083"/>
            <a:ext cx="14605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审阅并接受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FA93FD8-83A6-5502-8836-9E051BF2D5E1}"/>
              </a:ext>
            </a:extLst>
          </p:cNvPr>
          <p:cNvSpPr/>
          <p:nvPr/>
        </p:nvSpPr>
        <p:spPr>
          <a:xfrm>
            <a:off x="9944100" y="2222500"/>
            <a:ext cx="1765300" cy="2159000"/>
          </a:xfrm>
          <a:prstGeom prst="rect">
            <a:avLst/>
          </a:prstGeom>
          <a:solidFill>
            <a:srgbClr val="DCEAFF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EDA746C-F4FD-8B32-7998-8469C8924FD8}"/>
              </a:ext>
            </a:extLst>
          </p:cNvPr>
          <p:cNvSpPr txBox="1"/>
          <p:nvPr/>
        </p:nvSpPr>
        <p:spPr>
          <a:xfrm>
            <a:off x="10096500" y="2389917"/>
            <a:ext cx="584200" cy="374461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2100" b="1">
                <a:solidFill>
                  <a:srgbClr val="2F7CF6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2100" b="1">
              <a:solidFill>
                <a:srgbClr val="2F7C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F06C5F0-59A0-EFA3-8165-3BC6D9182939}"/>
              </a:ext>
            </a:extLst>
          </p:cNvPr>
          <p:cNvSpPr txBox="1"/>
          <p:nvPr/>
        </p:nvSpPr>
        <p:spPr>
          <a:xfrm>
            <a:off x="10096500" y="3071083"/>
            <a:ext cx="14605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应用到章节草稿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01CD-EC5C-2A0D-C669-74B393D083F2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018C1F1-A766-6317-F75C-E439178A84C2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确认计划不等于接受文字；接受也不等于已经保存正文。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E178E1E-FF15-4302-7DD0-1A219683B5C6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5561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A9E8CE7-BFD4-B1B1-858D-49DA139FFDD2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B99D9F-8655-E8DB-3C21-B434A34F9554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选择故事方向时，先看是否适合你的故事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FF4FC7-441D-B776-37F4-CB88983C3A67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626271-97F8-F8DB-20EC-81320F99D182}"/>
              </a:ext>
            </a:extLst>
          </p:cNvPr>
          <p:cNvSpPr txBox="1"/>
          <p:nvPr/>
        </p:nvSpPr>
        <p:spPr>
          <a:xfrm>
            <a:off x="673100" y="1730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2F7CF6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11A870-EAD5-5B30-F9FB-0EE0335C4D6A}"/>
              </a:ext>
            </a:extLst>
          </p:cNvPr>
          <p:cNvSpPr txBox="1"/>
          <p:nvPr/>
        </p:nvSpPr>
        <p:spPr>
          <a:xfrm>
            <a:off x="990600" y="1691789"/>
            <a:ext cx="10414000" cy="29751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600">
                <a:solidFill>
                  <a:srgbClr val="17212B"/>
                </a:solidFill>
                <a:latin typeface="Microsoft YaHei" panose="020B0503020204020204" pitchFamily="34" charset="-122"/>
              </a:rPr>
              <a:t>点击“生成方向”，阅读标签和剧情摘要。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817ACA-89B0-87CB-B196-CAA98ED8ECB3}"/>
              </a:ext>
            </a:extLst>
          </p:cNvPr>
          <p:cNvSpPr txBox="1"/>
          <p:nvPr/>
        </p:nvSpPr>
        <p:spPr>
          <a:xfrm>
            <a:off x="673100" y="23398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D03B7D-6DCB-AE27-B973-E67D47E004CE}"/>
              </a:ext>
            </a:extLst>
          </p:cNvPr>
          <p:cNvSpPr txBox="1"/>
          <p:nvPr/>
        </p:nvSpPr>
        <p:spPr>
          <a:xfrm>
            <a:off x="990600" y="2301389"/>
            <a:ext cx="10414000" cy="29751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600">
                <a:solidFill>
                  <a:srgbClr val="17212B"/>
                </a:solidFill>
                <a:latin typeface="Microsoft YaHei" panose="020B0503020204020204" pitchFamily="34" charset="-122"/>
              </a:rPr>
              <a:t>优先选择能推进本章主要目标的方向。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9644E1-D303-1BF1-E05E-EC3403906F1A}"/>
              </a:ext>
            </a:extLst>
          </p:cNvPr>
          <p:cNvSpPr txBox="1"/>
          <p:nvPr/>
        </p:nvSpPr>
        <p:spPr>
          <a:xfrm>
            <a:off x="673100" y="29494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68E0BBE-4F7A-3519-4032-FFD5E91DAC75}"/>
              </a:ext>
            </a:extLst>
          </p:cNvPr>
          <p:cNvSpPr txBox="1"/>
          <p:nvPr/>
        </p:nvSpPr>
        <p:spPr>
          <a:xfrm>
            <a:off x="990600" y="2910989"/>
            <a:ext cx="10414000" cy="29751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600">
                <a:solidFill>
                  <a:srgbClr val="17212B"/>
                </a:solidFill>
                <a:latin typeface="Microsoft YaHei" panose="020B0503020204020204" pitchFamily="34" charset="-122"/>
              </a:rPr>
              <a:t>检查人物有没有突然改变，秘密有没有提前揭开。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25BB659-B913-F713-3176-2975401CF4FB}"/>
              </a:ext>
            </a:extLst>
          </p:cNvPr>
          <p:cNvSpPr txBox="1"/>
          <p:nvPr/>
        </p:nvSpPr>
        <p:spPr>
          <a:xfrm>
            <a:off x="673100" y="35590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1FD1247-D05F-C1E7-93EF-2134CB0635D8}"/>
              </a:ext>
            </a:extLst>
          </p:cNvPr>
          <p:cNvSpPr txBox="1"/>
          <p:nvPr/>
        </p:nvSpPr>
        <p:spPr>
          <a:xfrm>
            <a:off x="990600" y="3520589"/>
            <a:ext cx="10414000" cy="29751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600">
                <a:solidFill>
                  <a:srgbClr val="17212B"/>
                </a:solidFill>
                <a:latin typeface="Microsoft YaHei" panose="020B0503020204020204" pitchFamily="34" charset="-122"/>
              </a:rPr>
              <a:t>确认它能自然接上上一章，并且一章内能够推进。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50FEEC3-ABD6-FFF6-2C9E-0B3BDFB53B1A}"/>
              </a:ext>
            </a:extLst>
          </p:cNvPr>
          <p:cNvSpPr txBox="1"/>
          <p:nvPr/>
        </p:nvSpPr>
        <p:spPr>
          <a:xfrm>
            <a:off x="673100" y="41686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BE98BB-73C0-CD51-2D1C-C196481E6F74}"/>
              </a:ext>
            </a:extLst>
          </p:cNvPr>
          <p:cNvSpPr txBox="1"/>
          <p:nvPr/>
        </p:nvSpPr>
        <p:spPr>
          <a:xfrm>
            <a:off x="990600" y="4130189"/>
            <a:ext cx="10414000" cy="29751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600">
                <a:solidFill>
                  <a:srgbClr val="17212B"/>
                </a:solidFill>
                <a:latin typeface="Microsoft YaHei" panose="020B0503020204020204" pitchFamily="34" charset="-122"/>
              </a:rPr>
              <a:t>由你点击“选择方向”；系统不能替你选择。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215CF8F-F7DA-916C-8331-7FCAC827DCD5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5F3969-D735-9689-C56C-586F7A3EA87A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最热闹的方向不一定最好。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8566161-C755-4A7B-1FE0-B43C2EA68413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14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9659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DA010E3-AEDD-775C-52B2-D4EE99B4A41B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660F45-0688-ED4C-0496-88BC152AFF4B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章节计划要说清楚“做什么”和“不做什么”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3A8799-F997-3C7C-9D4D-2ACFA33FDD47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EAC296-C42B-92C8-3954-C25B838C7841}"/>
              </a:ext>
            </a:extLst>
          </p:cNvPr>
          <p:cNvSpPr/>
          <p:nvPr/>
        </p:nvSpPr>
        <p:spPr>
          <a:xfrm>
            <a:off x="482600" y="1816100"/>
            <a:ext cx="53975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3862DD-5129-E211-B0FC-972C19A19088}"/>
              </a:ext>
            </a:extLst>
          </p:cNvPr>
          <p:cNvSpPr/>
          <p:nvPr/>
        </p:nvSpPr>
        <p:spPr>
          <a:xfrm>
            <a:off x="482600" y="1816100"/>
            <a:ext cx="63500" cy="3111500"/>
          </a:xfrm>
          <a:prstGeom prst="rect">
            <a:avLst/>
          </a:prstGeom>
          <a:solidFill>
            <a:srgbClr val="2F7CF6"/>
          </a:solidFill>
          <a:ln w="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CB1D9D-240C-199C-4B48-06C06FC49830}"/>
              </a:ext>
            </a:extLst>
          </p:cNvPr>
          <p:cNvSpPr txBox="1"/>
          <p:nvPr/>
        </p:nvSpPr>
        <p:spPr>
          <a:xfrm>
            <a:off x="711200" y="1950794"/>
            <a:ext cx="50165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确认前检查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78D5BF6-F2CF-8068-2919-62AC1ABCDAEA}"/>
              </a:ext>
            </a:extLst>
          </p:cNvPr>
          <p:cNvSpPr txBox="1"/>
          <p:nvPr/>
        </p:nvSpPr>
        <p:spPr>
          <a:xfrm>
            <a:off x="711200" y="2520434"/>
            <a:ext cx="50165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本章主要目标和结尾变化
必须出现的人物、事件或伏笔
暂时禁止发生的事情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7810B7-94DD-0546-35D4-AB37F21794A6}"/>
              </a:ext>
            </a:extLst>
          </p:cNvPr>
          <p:cNvSpPr/>
          <p:nvPr/>
        </p:nvSpPr>
        <p:spPr>
          <a:xfrm>
            <a:off x="6121400" y="1816100"/>
            <a:ext cx="55880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9976860-3792-BA93-F7D7-CF95765E7252}"/>
              </a:ext>
            </a:extLst>
          </p:cNvPr>
          <p:cNvSpPr/>
          <p:nvPr/>
        </p:nvSpPr>
        <p:spPr>
          <a:xfrm>
            <a:off x="6121400" y="1816100"/>
            <a:ext cx="63500" cy="3111500"/>
          </a:xfrm>
          <a:prstGeom prst="rect">
            <a:avLst/>
          </a:prstGeom>
          <a:solidFill>
            <a:srgbClr val="2E9D72"/>
          </a:solidFill>
          <a:ln w="0">
            <a:solidFill>
              <a:srgbClr val="2E9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D34052-8B04-4C41-7BF4-23EF27637262}"/>
              </a:ext>
            </a:extLst>
          </p:cNvPr>
          <p:cNvSpPr txBox="1"/>
          <p:nvPr/>
        </p:nvSpPr>
        <p:spPr>
          <a:xfrm>
            <a:off x="6350000" y="1950794"/>
            <a:ext cx="52070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你的操作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C8CDA8-A342-A96C-46A8-9B4BA6D4A76C}"/>
              </a:ext>
            </a:extLst>
          </p:cNvPr>
          <p:cNvSpPr txBox="1"/>
          <p:nvPr/>
        </p:nvSpPr>
        <p:spPr>
          <a:xfrm>
            <a:off x="6350000" y="2520434"/>
            <a:ext cx="52070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满意：确认计划
不满意：拒绝并重新准备
再查看写作任务并确认可执行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2A25604-2658-214A-9810-EF9E2F18E764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0D08240-F0ED-CFB6-BA92-EC1358B74900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确认计划只允许准备候选稿。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DCF7541-36C1-7426-E27F-61A25EE0DAD7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15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2351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56262B-27F7-63D7-0BE9-8D8AB4D93DC8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AF945D-F35B-171E-5DF2-8DE3BF05BD10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生成候选稿前，再看一眼写作任务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D7ECC0-8801-52E5-55D3-22CF0BD719EB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FED500-0D9D-A257-0016-4821BBB68164}"/>
              </a:ext>
            </a:extLst>
          </p:cNvPr>
          <p:cNvSpPr txBox="1"/>
          <p:nvPr/>
        </p:nvSpPr>
        <p:spPr>
          <a:xfrm>
            <a:off x="673100" y="1730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2F7CF6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E9A1A1-156C-EF41-57A0-FD8F5B525FF5}"/>
              </a:ext>
            </a:extLst>
          </p:cNvPr>
          <p:cNvSpPr txBox="1"/>
          <p:nvPr/>
        </p:nvSpPr>
        <p:spPr>
          <a:xfrm>
            <a:off x="990600" y="1691789"/>
            <a:ext cx="10414000" cy="29751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600">
                <a:solidFill>
                  <a:srgbClr val="17212B"/>
                </a:solidFill>
                <a:latin typeface="Microsoft YaHei" panose="020B0503020204020204" pitchFamily="34" charset="-122"/>
              </a:rPr>
              <a:t>查看任务详情，核对目标、必须包含和禁止事项。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789BED-5319-BD72-3FF7-24525CA7E282}"/>
              </a:ext>
            </a:extLst>
          </p:cNvPr>
          <p:cNvSpPr txBox="1"/>
          <p:nvPr/>
        </p:nvSpPr>
        <p:spPr>
          <a:xfrm>
            <a:off x="673100" y="23398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C22932E-AA5B-5064-B27E-9C568E7D0E5F}"/>
              </a:ext>
            </a:extLst>
          </p:cNvPr>
          <p:cNvSpPr txBox="1"/>
          <p:nvPr/>
        </p:nvSpPr>
        <p:spPr>
          <a:xfrm>
            <a:off x="990600" y="2301389"/>
            <a:ext cx="10414000" cy="29751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600">
                <a:solidFill>
                  <a:srgbClr val="17212B"/>
                </a:solidFill>
                <a:latin typeface="Microsoft YaHei" panose="020B0503020204020204" pitchFamily="34" charset="-122"/>
              </a:rPr>
              <a:t>任务可执行且内容正确时，点击“确认可执行”。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A547721-7A73-B576-1B14-BEAC5100F490}"/>
              </a:ext>
            </a:extLst>
          </p:cNvPr>
          <p:cNvSpPr txBox="1"/>
          <p:nvPr/>
        </p:nvSpPr>
        <p:spPr>
          <a:xfrm>
            <a:off x="673100" y="29494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1B3537A-B791-01F6-CC62-E1B3CB548CCE}"/>
              </a:ext>
            </a:extLst>
          </p:cNvPr>
          <p:cNvSpPr txBox="1"/>
          <p:nvPr/>
        </p:nvSpPr>
        <p:spPr>
          <a:xfrm>
            <a:off x="990600" y="2910989"/>
            <a:ext cx="10414000" cy="29751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600">
                <a:solidFill>
                  <a:srgbClr val="17212B"/>
                </a:solidFill>
                <a:latin typeface="Microsoft YaHei" panose="020B0503020204020204" pitchFamily="34" charset="-122"/>
              </a:rPr>
              <a:t>在“续写与候选稿”点击“生成候选稿”。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2A3F3EE-1BA0-C9FB-9C1D-FBE3BBBABA54}"/>
              </a:ext>
            </a:extLst>
          </p:cNvPr>
          <p:cNvSpPr txBox="1"/>
          <p:nvPr/>
        </p:nvSpPr>
        <p:spPr>
          <a:xfrm>
            <a:off x="673100" y="35590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45F0BD-7803-3031-B715-6CFD4E138A4A}"/>
              </a:ext>
            </a:extLst>
          </p:cNvPr>
          <p:cNvSpPr txBox="1"/>
          <p:nvPr/>
        </p:nvSpPr>
        <p:spPr>
          <a:xfrm>
            <a:off x="990600" y="3520589"/>
            <a:ext cx="10414000" cy="29751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600">
                <a:solidFill>
                  <a:srgbClr val="17212B"/>
                </a:solidFill>
                <a:latin typeface="Microsoft YaHei" panose="020B0503020204020204" pitchFamily="34" charset="-122"/>
              </a:rPr>
              <a:t>等待候选稿出现在列表；正式正文此时不会改变。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81004AB-4FD9-3875-CDA8-38FC360BE857}"/>
              </a:ext>
            </a:extLst>
          </p:cNvPr>
          <p:cNvSpPr txBox="1"/>
          <p:nvPr/>
        </p:nvSpPr>
        <p:spPr>
          <a:xfrm>
            <a:off x="673100" y="41686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D22F0B5-A31F-9468-FE73-48E0A74FE66C}"/>
              </a:ext>
            </a:extLst>
          </p:cNvPr>
          <p:cNvSpPr txBox="1"/>
          <p:nvPr/>
        </p:nvSpPr>
        <p:spPr>
          <a:xfrm>
            <a:off x="990600" y="4130189"/>
            <a:ext cx="10414000" cy="29751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600">
                <a:solidFill>
                  <a:srgbClr val="17212B"/>
                </a:solidFill>
                <a:latin typeface="Microsoft YaHei" panose="020B0503020204020204" pitchFamily="34" charset="-122"/>
              </a:rPr>
              <a:t>执行中可暂停、继续或取消；失败后先看原因。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53A5771-5375-4535-4EF9-EBB0B52EB3F1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DB082E2-3FFB-2043-F5A7-E0D8B4FB9A91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候选稿成功 </a:t>
            </a:r>
            <a:r>
              <a:rPr lang="en-US" altLang="zh-CN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= </a:t>
            </a:r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有一份稿可以看。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0E429A5-DD6F-F23E-C15D-50BF60B77E3D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2966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F8AD1BB-02F8-D654-8C7F-0355E806C515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F79C223-D651-9A4A-0BAB-04DF536AA11C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候选稿至少检查六件事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0D3DA7-8232-4B01-CA98-51EBFE0F5572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2C5782-6A6A-6F39-30C9-DCBC8A1F815A}"/>
              </a:ext>
            </a:extLst>
          </p:cNvPr>
          <p:cNvSpPr/>
          <p:nvPr/>
        </p:nvSpPr>
        <p:spPr>
          <a:xfrm>
            <a:off x="482600" y="1816100"/>
            <a:ext cx="53975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7F90BA-1B75-1FDD-7AF9-70226D1D3A3E}"/>
              </a:ext>
            </a:extLst>
          </p:cNvPr>
          <p:cNvSpPr/>
          <p:nvPr/>
        </p:nvSpPr>
        <p:spPr>
          <a:xfrm>
            <a:off x="482600" y="1816100"/>
            <a:ext cx="63500" cy="3111500"/>
          </a:xfrm>
          <a:prstGeom prst="rect">
            <a:avLst/>
          </a:prstGeom>
          <a:solidFill>
            <a:srgbClr val="2F7CF6"/>
          </a:solidFill>
          <a:ln w="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4B7619-485B-13CC-3BC8-6441D2098902}"/>
              </a:ext>
            </a:extLst>
          </p:cNvPr>
          <p:cNvSpPr txBox="1"/>
          <p:nvPr/>
        </p:nvSpPr>
        <p:spPr>
          <a:xfrm>
            <a:off x="711200" y="1950794"/>
            <a:ext cx="50165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故事连续性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E36049-F1F7-6687-64DA-926BDBF834CE}"/>
              </a:ext>
            </a:extLst>
          </p:cNvPr>
          <p:cNvSpPr txBox="1"/>
          <p:nvPr/>
        </p:nvSpPr>
        <p:spPr>
          <a:xfrm>
            <a:off x="711200" y="2520434"/>
            <a:ext cx="50165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人物：性格、动机、关系和称呼
时间与设定：先后、地点和规则
伏笔：有没有忘记或提前揭晓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C7A885-DADC-6F11-38C7-ADE9C893D41A}"/>
              </a:ext>
            </a:extLst>
          </p:cNvPr>
          <p:cNvSpPr/>
          <p:nvPr/>
        </p:nvSpPr>
        <p:spPr>
          <a:xfrm>
            <a:off x="6121400" y="1816100"/>
            <a:ext cx="55880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DA6D4BD-AB6E-6ED1-DC7A-9DDB4A9594D0}"/>
              </a:ext>
            </a:extLst>
          </p:cNvPr>
          <p:cNvSpPr/>
          <p:nvPr/>
        </p:nvSpPr>
        <p:spPr>
          <a:xfrm>
            <a:off x="6121400" y="1816100"/>
            <a:ext cx="63500" cy="3111500"/>
          </a:xfrm>
          <a:prstGeom prst="rect">
            <a:avLst/>
          </a:prstGeom>
          <a:solidFill>
            <a:srgbClr val="2E9D72"/>
          </a:solidFill>
          <a:ln w="0">
            <a:solidFill>
              <a:srgbClr val="2E9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0A1DCF9-0AEE-D99A-6EC5-AC67F71A5E3F}"/>
              </a:ext>
            </a:extLst>
          </p:cNvPr>
          <p:cNvSpPr txBox="1"/>
          <p:nvPr/>
        </p:nvSpPr>
        <p:spPr>
          <a:xfrm>
            <a:off x="6350000" y="1950794"/>
            <a:ext cx="52070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章节质量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CFD3EC-93C3-4227-1535-8E709B679A77}"/>
              </a:ext>
            </a:extLst>
          </p:cNvPr>
          <p:cNvSpPr txBox="1"/>
          <p:nvPr/>
        </p:nvSpPr>
        <p:spPr>
          <a:xfrm>
            <a:off x="6350000" y="2520434"/>
            <a:ext cx="52070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情节：目标、因果和结尾
文字：节奏、语气、重复和套话
</a:t>
            </a:r>
            <a:r>
              <a:rPr lang="en-US" altLang="zh-CN" sz="1400">
                <a:solidFill>
                  <a:srgbClr val="65727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审阅只能作为第二意见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DB7FE0-BA05-593B-61E4-26D314C29112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34E4DD5-9264-A6AE-BAD9-CAECE0925CA1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最后仍要由你完整通读。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76726BB-35F2-8108-59D7-9DAFC5138161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1810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0556C6F-C31E-8174-4A12-82816A6DC357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76548-A7E2-286C-A8C2-AC0C861873C5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不满意时，先重写和比较版本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3E90A6-3567-DA4B-59E2-896002E77A64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589616-3CB3-5DF7-AE31-D7AF0F2F0F67}"/>
              </a:ext>
            </a:extLst>
          </p:cNvPr>
          <p:cNvSpPr/>
          <p:nvPr/>
        </p:nvSpPr>
        <p:spPr>
          <a:xfrm>
            <a:off x="482600" y="1816100"/>
            <a:ext cx="53975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CF6A41-8DEC-B1A5-91AC-0C84E5668F79}"/>
              </a:ext>
            </a:extLst>
          </p:cNvPr>
          <p:cNvSpPr/>
          <p:nvPr/>
        </p:nvSpPr>
        <p:spPr>
          <a:xfrm>
            <a:off x="482600" y="1816100"/>
            <a:ext cx="63500" cy="3111500"/>
          </a:xfrm>
          <a:prstGeom prst="rect">
            <a:avLst/>
          </a:prstGeom>
          <a:solidFill>
            <a:srgbClr val="2F7CF6"/>
          </a:solidFill>
          <a:ln w="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CDC2A2-924F-A0C5-8CEC-EA93F958EB1A}"/>
              </a:ext>
            </a:extLst>
          </p:cNvPr>
          <p:cNvSpPr txBox="1"/>
          <p:nvPr/>
        </p:nvSpPr>
        <p:spPr>
          <a:xfrm>
            <a:off x="711200" y="1950794"/>
            <a:ext cx="50165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重写方式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FCB971A-C81C-20FB-2E04-F8D15DEECA8B}"/>
              </a:ext>
            </a:extLst>
          </p:cNvPr>
          <p:cNvSpPr txBox="1"/>
          <p:nvPr/>
        </p:nvSpPr>
        <p:spPr>
          <a:xfrm>
            <a:off x="711200" y="2520434"/>
            <a:ext cx="50165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按 </a:t>
            </a:r>
            <a:r>
              <a:rPr lang="en-US" altLang="zh-CN" sz="1400">
                <a:solidFill>
                  <a:srgbClr val="65727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审阅意见修订
输入具体要求后重写
保留事件，只调整对白或节奏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E63B598-9F96-BBF8-50C9-9D9C80339E68}"/>
              </a:ext>
            </a:extLst>
          </p:cNvPr>
          <p:cNvSpPr/>
          <p:nvPr/>
        </p:nvSpPr>
        <p:spPr>
          <a:xfrm>
            <a:off x="6121400" y="1816100"/>
            <a:ext cx="55880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464992-8621-8C26-ABFF-51705744EDE4}"/>
              </a:ext>
            </a:extLst>
          </p:cNvPr>
          <p:cNvSpPr/>
          <p:nvPr/>
        </p:nvSpPr>
        <p:spPr>
          <a:xfrm>
            <a:off x="6121400" y="1816100"/>
            <a:ext cx="63500" cy="3111500"/>
          </a:xfrm>
          <a:prstGeom prst="rect">
            <a:avLst/>
          </a:prstGeom>
          <a:solidFill>
            <a:srgbClr val="2E9D72"/>
          </a:solidFill>
          <a:ln w="0">
            <a:solidFill>
              <a:srgbClr val="2E9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A9AC34E-2E27-D69D-06C5-A06CAD7927DE}"/>
              </a:ext>
            </a:extLst>
          </p:cNvPr>
          <p:cNvSpPr txBox="1"/>
          <p:nvPr/>
        </p:nvSpPr>
        <p:spPr>
          <a:xfrm>
            <a:off x="6350000" y="1950794"/>
            <a:ext cx="52070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版本操作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0B1A947-6025-55B8-D29C-41B3E945FC8B}"/>
              </a:ext>
            </a:extLst>
          </p:cNvPr>
          <p:cNvSpPr txBox="1"/>
          <p:nvPr/>
        </p:nvSpPr>
        <p:spPr>
          <a:xfrm>
            <a:off x="6350000" y="2520434"/>
            <a:ext cx="52070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查看 </a:t>
            </a:r>
            <a:r>
              <a:rPr lang="en-US" altLang="zh-CN" sz="1400">
                <a:solidFill>
                  <a:srgbClr val="65727E"/>
                </a:solidFill>
                <a:latin typeface="Microsoft YaHei" panose="020B0503020204020204" pitchFamily="34" charset="-122"/>
              </a:rPr>
              <a:t>v1</a:t>
            </a:r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65727E"/>
                </a:solidFill>
                <a:latin typeface="Microsoft YaHei" panose="020B0503020204020204" pitchFamily="34" charset="-122"/>
              </a:rPr>
              <a:t>v2 </a:t>
            </a:r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完整内容
查看版本差异
选择真正更合适的版本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0BBD7B-2677-BEFE-2166-885FABC74B38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E927DC7-9710-6CD1-8196-8B5236B78346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新版本不一定更好。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CABA04B-3EC2-4673-A81A-BB8FAF566CE7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1481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D7740D1-802D-9F22-BF65-08194E54CBCC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A1162E-63FB-37D3-D286-25B35AEDA804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接受、应用、保存是三个动作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1473D2-128A-AFA9-34C0-58212D130D42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5E86C7-DBED-D4FD-921E-7143BD0786D3}"/>
              </a:ext>
            </a:extLst>
          </p:cNvPr>
          <p:cNvSpPr/>
          <p:nvPr/>
        </p:nvSpPr>
        <p:spPr>
          <a:xfrm>
            <a:off x="482600" y="2222500"/>
            <a:ext cx="2711450" cy="21590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A9410D-BB89-C03B-4D57-1B2BDE811E5A}"/>
              </a:ext>
            </a:extLst>
          </p:cNvPr>
          <p:cNvSpPr txBox="1"/>
          <p:nvPr/>
        </p:nvSpPr>
        <p:spPr>
          <a:xfrm>
            <a:off x="635000" y="2389917"/>
            <a:ext cx="584200" cy="374461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2100" b="1">
                <a:solidFill>
                  <a:srgbClr val="65727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1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782CFE-2832-9D1A-F8CD-2B3CE012F8B2}"/>
              </a:ext>
            </a:extLst>
          </p:cNvPr>
          <p:cNvSpPr txBox="1"/>
          <p:nvPr/>
        </p:nvSpPr>
        <p:spPr>
          <a:xfrm>
            <a:off x="635000" y="3071083"/>
            <a:ext cx="240665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接受候选稿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33B1EF-0FBC-3036-5D46-0DE87A6A0FCA}"/>
              </a:ext>
            </a:extLst>
          </p:cNvPr>
          <p:cNvSpPr/>
          <p:nvPr/>
        </p:nvSpPr>
        <p:spPr>
          <a:xfrm>
            <a:off x="3321050" y="2222500"/>
            <a:ext cx="2711450" cy="21590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4BBE21A-2A96-C859-F955-F1CFDDE10D53}"/>
              </a:ext>
            </a:extLst>
          </p:cNvPr>
          <p:cNvSpPr txBox="1"/>
          <p:nvPr/>
        </p:nvSpPr>
        <p:spPr>
          <a:xfrm>
            <a:off x="3473450" y="2389917"/>
            <a:ext cx="584200" cy="374461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2100" b="1">
                <a:solidFill>
                  <a:srgbClr val="65727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1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1448C92-F26E-2FFA-85EE-B2F133E52E2F}"/>
              </a:ext>
            </a:extLst>
          </p:cNvPr>
          <p:cNvSpPr txBox="1"/>
          <p:nvPr/>
        </p:nvSpPr>
        <p:spPr>
          <a:xfrm>
            <a:off x="3473450" y="3071083"/>
            <a:ext cx="240665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应用到章节草稿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1D14F6-F353-3CF8-0F9D-A38BCE801F22}"/>
              </a:ext>
            </a:extLst>
          </p:cNvPr>
          <p:cNvSpPr/>
          <p:nvPr/>
        </p:nvSpPr>
        <p:spPr>
          <a:xfrm>
            <a:off x="6159500" y="2222500"/>
            <a:ext cx="2711450" cy="21590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68885E-E7EA-5957-6E57-BF9D4D071C71}"/>
              </a:ext>
            </a:extLst>
          </p:cNvPr>
          <p:cNvSpPr txBox="1"/>
          <p:nvPr/>
        </p:nvSpPr>
        <p:spPr>
          <a:xfrm>
            <a:off x="6311900" y="2389917"/>
            <a:ext cx="584200" cy="374461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2100" b="1">
                <a:solidFill>
                  <a:srgbClr val="65727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1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9B579BB-D2F8-871F-5240-66933594E228}"/>
              </a:ext>
            </a:extLst>
          </p:cNvPr>
          <p:cNvSpPr txBox="1"/>
          <p:nvPr/>
        </p:nvSpPr>
        <p:spPr>
          <a:xfrm>
            <a:off x="6311900" y="3071083"/>
            <a:ext cx="240665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作者再次通读和修改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AEB76A-9A11-36D9-85AE-4512D6EB15A2}"/>
              </a:ext>
            </a:extLst>
          </p:cNvPr>
          <p:cNvSpPr/>
          <p:nvPr/>
        </p:nvSpPr>
        <p:spPr>
          <a:xfrm>
            <a:off x="8997950" y="2222500"/>
            <a:ext cx="2711450" cy="2159000"/>
          </a:xfrm>
          <a:prstGeom prst="rect">
            <a:avLst/>
          </a:prstGeom>
          <a:solidFill>
            <a:srgbClr val="DCEAFF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9B1C1EA-69C9-EBC7-50A0-3401F689D19F}"/>
              </a:ext>
            </a:extLst>
          </p:cNvPr>
          <p:cNvSpPr txBox="1"/>
          <p:nvPr/>
        </p:nvSpPr>
        <p:spPr>
          <a:xfrm>
            <a:off x="9150350" y="2389917"/>
            <a:ext cx="584200" cy="374461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2100" b="1">
                <a:solidFill>
                  <a:srgbClr val="2F7CF6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100" b="1">
              <a:solidFill>
                <a:srgbClr val="2F7C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8292CED-958B-DBC6-DF84-2570B458CA7B}"/>
              </a:ext>
            </a:extLst>
          </p:cNvPr>
          <p:cNvSpPr txBox="1"/>
          <p:nvPr/>
        </p:nvSpPr>
        <p:spPr>
          <a:xfrm>
            <a:off x="9150350" y="3071083"/>
            <a:ext cx="240665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保存正文并看到已保存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6A22D3-37AF-6E44-3702-BCACB48BDC7B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7DCA29F-7856-BCA0-5A76-47A28B5CE1B1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不要在没有通读时连续点击接受和应用。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1A60F26-AC05-88CB-D1CD-66E3E0A2B40B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19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0984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74E8D74-C983-9BAA-1D3B-52DF5CA9C0C3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C9284E-584F-F619-6E95-35A3CA20EA37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“接着写”适合卡文时快速准备一章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1B4E4A-33D8-2F4E-E2FB-B1F31EB385D3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2398EC-3EA8-EDE3-7BF2-A070D2CBFAF3}"/>
              </a:ext>
            </a:extLst>
          </p:cNvPr>
          <p:cNvSpPr txBox="1"/>
          <p:nvPr/>
        </p:nvSpPr>
        <p:spPr>
          <a:xfrm>
            <a:off x="673100" y="1730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2F7CF6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C81A8A-AB5F-F601-FD91-BA5D3CA54A77}"/>
              </a:ext>
            </a:extLst>
          </p:cNvPr>
          <p:cNvSpPr txBox="1"/>
          <p:nvPr/>
        </p:nvSpPr>
        <p:spPr>
          <a:xfrm>
            <a:off x="990600" y="1699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打开正确章节，并确认正文已保存。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488AD3-04D6-1B59-2240-37369FB100D0}"/>
              </a:ext>
            </a:extLst>
          </p:cNvPr>
          <p:cNvSpPr txBox="1"/>
          <p:nvPr/>
        </p:nvSpPr>
        <p:spPr>
          <a:xfrm>
            <a:off x="673100" y="2301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7E3F1AB-A10D-4F8B-D049-922EF2453AA4}"/>
              </a:ext>
            </a:extLst>
          </p:cNvPr>
          <p:cNvSpPr txBox="1"/>
          <p:nvPr/>
        </p:nvSpPr>
        <p:spPr>
          <a:xfrm>
            <a:off x="990600" y="2270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进入“</a:t>
            </a:r>
            <a:r>
              <a:rPr lang="en-US" altLang="zh-CN" sz="1500">
                <a:solidFill>
                  <a:srgbClr val="17212B"/>
                </a:solidFill>
                <a:latin typeface="Microsoft YaHei" panose="020B0503020204020204" pitchFamily="34" charset="-122"/>
              </a:rPr>
              <a:t>AI → AI </a:t>
            </a:r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助手 → 接着写”。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70BDB3B-4409-C8F2-8BB9-7D361ECE911E}"/>
              </a:ext>
            </a:extLst>
          </p:cNvPr>
          <p:cNvSpPr txBox="1"/>
          <p:nvPr/>
        </p:nvSpPr>
        <p:spPr>
          <a:xfrm>
            <a:off x="673100" y="2873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85FEE4D-55F4-0AAD-B24C-06432F41476A}"/>
              </a:ext>
            </a:extLst>
          </p:cNvPr>
          <p:cNvSpPr txBox="1"/>
          <p:nvPr/>
        </p:nvSpPr>
        <p:spPr>
          <a:xfrm>
            <a:off x="990600" y="2842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写一句“本章推进什么 </a:t>
            </a:r>
            <a:r>
              <a:rPr lang="en-US" altLang="zh-CN" sz="1500">
                <a:solidFill>
                  <a:srgbClr val="17212B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暂时不要发生什么”。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A24E789-7D1F-AFAF-C271-5DD3498B8B12}"/>
              </a:ext>
            </a:extLst>
          </p:cNvPr>
          <p:cNvSpPr txBox="1"/>
          <p:nvPr/>
        </p:nvSpPr>
        <p:spPr>
          <a:xfrm>
            <a:off x="673100" y="3444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081ABDD-3CEB-0464-0019-7B3C2AAB162A}"/>
              </a:ext>
            </a:extLst>
          </p:cNvPr>
          <p:cNvSpPr txBox="1"/>
          <p:nvPr/>
        </p:nvSpPr>
        <p:spPr>
          <a:xfrm>
            <a:off x="990600" y="3413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选择章节数、目标字数和保护设置后启动。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200CAE-8510-91EA-8BA8-D8F6197FE05E}"/>
              </a:ext>
            </a:extLst>
          </p:cNvPr>
          <p:cNvSpPr txBox="1"/>
          <p:nvPr/>
        </p:nvSpPr>
        <p:spPr>
          <a:xfrm>
            <a:off x="673100" y="4016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17EB03C-DAEE-975E-9A69-DAB8B5816FE5}"/>
              </a:ext>
            </a:extLst>
          </p:cNvPr>
          <p:cNvSpPr txBox="1"/>
          <p:nvPr/>
        </p:nvSpPr>
        <p:spPr>
          <a:xfrm>
            <a:off x="990600" y="3985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写完会停下来，等你查看候选稿。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B82048-EB2F-1DEF-D94C-42A425935B89}"/>
              </a:ext>
            </a:extLst>
          </p:cNvPr>
          <p:cNvSpPr txBox="1"/>
          <p:nvPr/>
        </p:nvSpPr>
        <p:spPr>
          <a:xfrm>
            <a:off x="673100" y="4587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133F401-5429-60D3-54B5-575146114907}"/>
              </a:ext>
            </a:extLst>
          </p:cNvPr>
          <p:cNvSpPr txBox="1"/>
          <p:nvPr/>
        </p:nvSpPr>
        <p:spPr>
          <a:xfrm>
            <a:off x="990600" y="4556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第一次只做一章，不要一次塞入十几个要求。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0E2E21-A638-84DE-5DBA-D7A305985284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F01349D-E49E-3C91-5E7E-B11F29C17125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示例：接着写旧钥匙线索，但不要揭晓幕后人物。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451977F-E643-1828-E32F-A146BD5A0FE3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20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34768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0B5556F-B53D-8BCB-2FBE-6623FD14F5AD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A7D52D-F228-5ADF-BE2C-223DFC85D661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多章续写也要逐章看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D26D54-3F15-E19F-7D40-D59A1008EB78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3EFD71-3BD4-4215-21BE-E7C269775BD9}"/>
              </a:ext>
            </a:extLst>
          </p:cNvPr>
          <p:cNvSpPr/>
          <p:nvPr/>
        </p:nvSpPr>
        <p:spPr>
          <a:xfrm>
            <a:off x="482600" y="1816100"/>
            <a:ext cx="53975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40A647-F476-8386-D7CC-2621E21D0E87}"/>
              </a:ext>
            </a:extLst>
          </p:cNvPr>
          <p:cNvSpPr/>
          <p:nvPr/>
        </p:nvSpPr>
        <p:spPr>
          <a:xfrm>
            <a:off x="482600" y="1816100"/>
            <a:ext cx="63500" cy="3111500"/>
          </a:xfrm>
          <a:prstGeom prst="rect">
            <a:avLst/>
          </a:prstGeom>
          <a:solidFill>
            <a:srgbClr val="2F7CF6"/>
          </a:solidFill>
          <a:ln w="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C47216-EA28-B735-6E10-69047D8F2880}"/>
              </a:ext>
            </a:extLst>
          </p:cNvPr>
          <p:cNvSpPr txBox="1"/>
          <p:nvPr/>
        </p:nvSpPr>
        <p:spPr>
          <a:xfrm>
            <a:off x="711200" y="1950794"/>
            <a:ext cx="50165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开始前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76B135-31F7-0B38-9F7A-7E11B4A82B34}"/>
              </a:ext>
            </a:extLst>
          </p:cNvPr>
          <p:cNvSpPr txBox="1"/>
          <p:nvPr/>
        </p:nvSpPr>
        <p:spPr>
          <a:xfrm>
            <a:off x="711200" y="2520434"/>
            <a:ext cx="50165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大纲和人物资料比较完整
接下来几章目标明确
第一次只设置 </a:t>
            </a:r>
            <a:r>
              <a:rPr lang="en-US" altLang="zh-CN" sz="1400">
                <a:solidFill>
                  <a:srgbClr val="65727E"/>
                </a:solidFill>
                <a:latin typeface="Microsoft YaHei" panose="020B0503020204020204" pitchFamily="34" charset="-122"/>
              </a:rPr>
              <a:t>2—3 </a:t>
            </a:r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5C0706-56D2-4B8F-7CEF-0ABC2B0F7A04}"/>
              </a:ext>
            </a:extLst>
          </p:cNvPr>
          <p:cNvSpPr/>
          <p:nvPr/>
        </p:nvSpPr>
        <p:spPr>
          <a:xfrm>
            <a:off x="6121400" y="1816100"/>
            <a:ext cx="55880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677144-A230-AC17-7A92-286545CF3069}"/>
              </a:ext>
            </a:extLst>
          </p:cNvPr>
          <p:cNvSpPr/>
          <p:nvPr/>
        </p:nvSpPr>
        <p:spPr>
          <a:xfrm>
            <a:off x="6121400" y="1816100"/>
            <a:ext cx="63500" cy="3111500"/>
          </a:xfrm>
          <a:prstGeom prst="rect">
            <a:avLst/>
          </a:prstGeom>
          <a:solidFill>
            <a:srgbClr val="2E9D72"/>
          </a:solidFill>
          <a:ln w="0">
            <a:solidFill>
              <a:srgbClr val="2E9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5010CA0-12AA-E5B9-1C95-A43EAB98E510}"/>
              </a:ext>
            </a:extLst>
          </p:cNvPr>
          <p:cNvSpPr txBox="1"/>
          <p:nvPr/>
        </p:nvSpPr>
        <p:spPr>
          <a:xfrm>
            <a:off x="6350000" y="1950794"/>
            <a:ext cx="52070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运行中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9415558-B8B1-DE25-6764-5BC0C6B0EAAD}"/>
              </a:ext>
            </a:extLst>
          </p:cNvPr>
          <p:cNvSpPr txBox="1"/>
          <p:nvPr/>
        </p:nvSpPr>
        <p:spPr>
          <a:xfrm>
            <a:off x="6350000" y="2520434"/>
            <a:ext cx="52070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每章结果保留为候选稿
有问题就暂停
取消不删除已生成候选稿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FD256B-0718-83E1-A771-086773EC492E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6914E38-B8AB-EDB6-289D-4EDEF1DB14BA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继续下一章不会采用当前章。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64E2ED0-6F9E-06DA-1FFF-53FF8DF873F9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21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6923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D38B540-B7A7-73D0-AA76-29CF6E25BC44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E30857-627C-1F9F-3288-BB0782343C33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自动续写先设置四类保护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4A603A-8181-A437-5253-EBBCEF5D2502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86B047-3103-A45B-5133-8C34D30C99EB}"/>
              </a:ext>
            </a:extLst>
          </p:cNvPr>
          <p:cNvSpPr txBox="1"/>
          <p:nvPr/>
        </p:nvSpPr>
        <p:spPr>
          <a:xfrm>
            <a:off x="673100" y="1730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2F7CF6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C39401-8F8A-972A-620B-A8E342D1D3A2}"/>
              </a:ext>
            </a:extLst>
          </p:cNvPr>
          <p:cNvSpPr txBox="1"/>
          <p:nvPr/>
        </p:nvSpPr>
        <p:spPr>
          <a:xfrm>
            <a:off x="990600" y="1699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填写写作意图、目标章节数和每章字数。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59B2E2-8CD6-CA15-3E3E-02C8EF5C9095}"/>
              </a:ext>
            </a:extLst>
          </p:cNvPr>
          <p:cNvSpPr txBox="1"/>
          <p:nvPr/>
        </p:nvSpPr>
        <p:spPr>
          <a:xfrm>
            <a:off x="673100" y="2301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A7D8B52-C702-AA5F-1A7D-50851F7895E8}"/>
              </a:ext>
            </a:extLst>
          </p:cNvPr>
          <p:cNvSpPr txBox="1"/>
          <p:nvPr/>
        </p:nvSpPr>
        <p:spPr>
          <a:xfrm>
            <a:off x="990600" y="2270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设置本次 </a:t>
            </a:r>
            <a:r>
              <a:rPr lang="en-US" altLang="zh-CN" sz="1500">
                <a:solidFill>
                  <a:srgbClr val="17212B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用量上限。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9A9E29-388D-CBE9-812B-96CE4605745C}"/>
              </a:ext>
            </a:extLst>
          </p:cNvPr>
          <p:cNvSpPr txBox="1"/>
          <p:nvPr/>
        </p:nvSpPr>
        <p:spPr>
          <a:xfrm>
            <a:off x="673100" y="2873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63BA2A7-EB97-D307-895E-2F5643D620A3}"/>
              </a:ext>
            </a:extLst>
          </p:cNvPr>
          <p:cNvSpPr txBox="1"/>
          <p:nvPr/>
        </p:nvSpPr>
        <p:spPr>
          <a:xfrm>
            <a:off x="990600" y="2842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选择序列结束、严重冲突和预算超出时停止。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C826E0A-6B97-6E3B-0348-4689C5C460F9}"/>
              </a:ext>
            </a:extLst>
          </p:cNvPr>
          <p:cNvSpPr txBox="1"/>
          <p:nvPr/>
        </p:nvSpPr>
        <p:spPr>
          <a:xfrm>
            <a:off x="673100" y="3444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651E72F-C067-91E7-D723-E99008A18807}"/>
              </a:ext>
            </a:extLst>
          </p:cNvPr>
          <p:cNvSpPr txBox="1"/>
          <p:nvPr/>
        </p:nvSpPr>
        <p:spPr>
          <a:xfrm>
            <a:off x="990600" y="3413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选择伏笔可能提前回收时停止。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353396-DFD9-466D-2DFA-41D2FE44A124}"/>
              </a:ext>
            </a:extLst>
          </p:cNvPr>
          <p:cNvSpPr txBox="1"/>
          <p:nvPr/>
        </p:nvSpPr>
        <p:spPr>
          <a:xfrm>
            <a:off x="673100" y="4016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74801C2-203B-7762-661C-C1C2F55909D0}"/>
              </a:ext>
            </a:extLst>
          </p:cNvPr>
          <p:cNvSpPr txBox="1"/>
          <p:nvPr/>
        </p:nvSpPr>
        <p:spPr>
          <a:xfrm>
            <a:off x="990600" y="3985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先保存保护设置，再启动。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87306AC-931D-312F-5956-B2B558464135}"/>
              </a:ext>
            </a:extLst>
          </p:cNvPr>
          <p:cNvSpPr txBox="1"/>
          <p:nvPr/>
        </p:nvSpPr>
        <p:spPr>
          <a:xfrm>
            <a:off x="673100" y="4587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CBE317E-0788-B6AD-99AC-BEDAF341F185}"/>
              </a:ext>
            </a:extLst>
          </p:cNvPr>
          <p:cNvSpPr txBox="1"/>
          <p:nvPr/>
        </p:nvSpPr>
        <p:spPr>
          <a:xfrm>
            <a:off x="990600" y="4556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自动续写不自动发书，也不自动更新记忆。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B29D4C-61B1-5646-7DE1-8852C67A339F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D670A60-AB00-5FFC-FEFC-D82E083DC790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第一次仍建议只做 </a:t>
            </a:r>
            <a:r>
              <a:rPr lang="en-US" altLang="zh-CN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2—3 </a:t>
            </a:r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章。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1978DA8-C010-D042-A77F-F80CF0CA3CC5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22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3744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D6BAA9F-1D8C-5154-6D52-5383444AFA95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291735-0DB1-FB7D-15F8-B59A6263378C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暂停、停止和放弃，后果完全不同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A8C3D6-F6F8-8586-5AD4-948FFBE22FE8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A60935-141D-AED4-8D79-422433009FAB}"/>
              </a:ext>
            </a:extLst>
          </p:cNvPr>
          <p:cNvSpPr/>
          <p:nvPr/>
        </p:nvSpPr>
        <p:spPr>
          <a:xfrm>
            <a:off x="482600" y="1816100"/>
            <a:ext cx="53975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859F0D-465C-4934-A526-DD54965AD424}"/>
              </a:ext>
            </a:extLst>
          </p:cNvPr>
          <p:cNvSpPr/>
          <p:nvPr/>
        </p:nvSpPr>
        <p:spPr>
          <a:xfrm>
            <a:off x="482600" y="1816100"/>
            <a:ext cx="63500" cy="3111500"/>
          </a:xfrm>
          <a:prstGeom prst="rect">
            <a:avLst/>
          </a:prstGeom>
          <a:solidFill>
            <a:srgbClr val="2F7CF6"/>
          </a:solidFill>
          <a:ln w="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5C6954-BCB5-1845-A252-FBA0D30D6EC0}"/>
              </a:ext>
            </a:extLst>
          </p:cNvPr>
          <p:cNvSpPr txBox="1"/>
          <p:nvPr/>
        </p:nvSpPr>
        <p:spPr>
          <a:xfrm>
            <a:off x="711200" y="1950794"/>
            <a:ext cx="50165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还能恢复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80FD4C-29F0-C6B1-A6C3-7DDFB6D8FCFA}"/>
              </a:ext>
            </a:extLst>
          </p:cNvPr>
          <p:cNvSpPr txBox="1"/>
          <p:nvPr/>
        </p:nvSpPr>
        <p:spPr>
          <a:xfrm>
            <a:off x="711200" y="2520434"/>
            <a:ext cx="50165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暂停：暂时停下
停止：处理原因后可能恢复
回原任务明确点击继续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EEA0CE-0F53-CA3F-1B02-BA5DF3EABC27}"/>
              </a:ext>
            </a:extLst>
          </p:cNvPr>
          <p:cNvSpPr/>
          <p:nvPr/>
        </p:nvSpPr>
        <p:spPr>
          <a:xfrm>
            <a:off x="6121400" y="1816100"/>
            <a:ext cx="55880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8E0D91-7BE7-FC44-7C2C-66080004B32B}"/>
              </a:ext>
            </a:extLst>
          </p:cNvPr>
          <p:cNvSpPr/>
          <p:nvPr/>
        </p:nvSpPr>
        <p:spPr>
          <a:xfrm>
            <a:off x="6121400" y="1816100"/>
            <a:ext cx="63500" cy="3111500"/>
          </a:xfrm>
          <a:prstGeom prst="rect">
            <a:avLst/>
          </a:prstGeom>
          <a:solidFill>
            <a:srgbClr val="2E9D72"/>
          </a:solidFill>
          <a:ln w="0">
            <a:solidFill>
              <a:srgbClr val="2E9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9F8D98F-9476-AB8A-B807-74F54B77AC9C}"/>
              </a:ext>
            </a:extLst>
          </p:cNvPr>
          <p:cNvSpPr txBox="1"/>
          <p:nvPr/>
        </p:nvSpPr>
        <p:spPr>
          <a:xfrm>
            <a:off x="6350000" y="1950794"/>
            <a:ext cx="52070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不能恢复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CA1C7D1-4688-0D30-39CA-D34B4142B198}"/>
              </a:ext>
            </a:extLst>
          </p:cNvPr>
          <p:cNvSpPr txBox="1"/>
          <p:nvPr/>
        </p:nvSpPr>
        <p:spPr>
          <a:xfrm>
            <a:off x="6350000" y="2520434"/>
            <a:ext cx="52070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放弃这次：任务永久取消
已有候选稿仍然保留
放弃前会二次确认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4A97603-6F20-B045-E636-6CD77B0F8451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C8B8C3B-D5BE-2F8B-594C-BC539B3AE3E1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修复预算或资料后也不会自动恢复。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FADC776-3A2A-6B58-E484-E8A121A56908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23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3942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AA045EE-8F01-A5FE-E072-3EE7C0168C65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739C73-337C-B080-F4D1-0B688CC9F3F4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大纲辅助的结果先进入草稿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625C9B-4212-BF2E-D7FB-CBF92124A10E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3D6BF95-1A51-FA3E-8F2D-73EDE02E9DD2}"/>
              </a:ext>
            </a:extLst>
          </p:cNvPr>
          <p:cNvSpPr txBox="1"/>
          <p:nvPr/>
        </p:nvSpPr>
        <p:spPr>
          <a:xfrm>
            <a:off x="673100" y="1730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2F7CF6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F8C1DF-2780-A0EA-9449-AF87042DEA89}"/>
              </a:ext>
            </a:extLst>
          </p:cNvPr>
          <p:cNvSpPr txBox="1"/>
          <p:nvPr/>
        </p:nvSpPr>
        <p:spPr>
          <a:xfrm>
            <a:off x="990600" y="1699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先写清主角目标、阻力和接下来三章。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812F74-8E56-0B61-0CEB-A904580A5822}"/>
              </a:ext>
            </a:extLst>
          </p:cNvPr>
          <p:cNvSpPr txBox="1"/>
          <p:nvPr/>
        </p:nvSpPr>
        <p:spPr>
          <a:xfrm>
            <a:off x="673100" y="2301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DEAC36-C367-9876-F874-9BC35BB9239C}"/>
              </a:ext>
            </a:extLst>
          </p:cNvPr>
          <p:cNvSpPr txBox="1"/>
          <p:nvPr/>
        </p:nvSpPr>
        <p:spPr>
          <a:xfrm>
            <a:off x="990600" y="2270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选择润色、扩写、续写或整理。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AD8F60-D829-73FF-7B8E-550713AB7378}"/>
              </a:ext>
            </a:extLst>
          </p:cNvPr>
          <p:cNvSpPr txBox="1"/>
          <p:nvPr/>
        </p:nvSpPr>
        <p:spPr>
          <a:xfrm>
            <a:off x="673100" y="2873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E3F152F-1C4C-4395-9D47-9568021E54AC}"/>
              </a:ext>
            </a:extLst>
          </p:cNvPr>
          <p:cNvSpPr txBox="1"/>
          <p:nvPr/>
        </p:nvSpPr>
        <p:spPr>
          <a:xfrm>
            <a:off x="990600" y="2842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对比现在的大纲和建议内容。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8085075-BA70-D0DC-025D-C8791BB57019}"/>
              </a:ext>
            </a:extLst>
          </p:cNvPr>
          <p:cNvSpPr txBox="1"/>
          <p:nvPr/>
        </p:nvSpPr>
        <p:spPr>
          <a:xfrm>
            <a:off x="673100" y="3444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D50277-CC9F-DABA-3F0F-C7ADB0AE090F}"/>
              </a:ext>
            </a:extLst>
          </p:cNvPr>
          <p:cNvSpPr txBox="1"/>
          <p:nvPr/>
        </p:nvSpPr>
        <p:spPr>
          <a:xfrm>
            <a:off x="990600" y="3413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检查冲突和建议是否过期。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40DD6D0-0CD5-8E7F-1928-B5ABA3811194}"/>
              </a:ext>
            </a:extLst>
          </p:cNvPr>
          <p:cNvSpPr txBox="1"/>
          <p:nvPr/>
        </p:nvSpPr>
        <p:spPr>
          <a:xfrm>
            <a:off x="673100" y="4016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1E83EAA-4070-97A0-B691-C0081F691BCF}"/>
              </a:ext>
            </a:extLst>
          </p:cNvPr>
          <p:cNvSpPr txBox="1"/>
          <p:nvPr/>
        </p:nvSpPr>
        <p:spPr>
          <a:xfrm>
            <a:off x="990600" y="3985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满意后放进大纲，再回到编辑区检查。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20DF90F-6028-5210-CD96-0143B646A89A}"/>
              </a:ext>
            </a:extLst>
          </p:cNvPr>
          <p:cNvSpPr txBox="1"/>
          <p:nvPr/>
        </p:nvSpPr>
        <p:spPr>
          <a:xfrm>
            <a:off x="673100" y="4587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5413301-08DF-586A-AB3C-125B16408E9D}"/>
              </a:ext>
            </a:extLst>
          </p:cNvPr>
          <p:cNvSpPr txBox="1"/>
          <p:nvPr/>
        </p:nvSpPr>
        <p:spPr>
          <a:xfrm>
            <a:off x="990600" y="4556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最后手动保存正式大纲。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93DA930-9C94-3BE8-D4D3-6B302FA217E5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C5C50A6-41B9-90EB-847C-AF8EFFCB5999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大纲变化后，旧建议会过期。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91451FC-27E6-D515-889A-9FE1D90B664D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24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4335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CE38A55-A620-C218-3DFB-C369ADD8CF6B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0E0DBC0-C91C-3BC4-AF0F-E080C63D71D2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人物、时间线和伏笔是长篇的基础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35A69B-0700-56F6-B65E-6F8F371DE899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509604-45CA-AA3C-A5EF-DD6EE4E41B45}"/>
              </a:ext>
            </a:extLst>
          </p:cNvPr>
          <p:cNvSpPr/>
          <p:nvPr/>
        </p:nvSpPr>
        <p:spPr>
          <a:xfrm>
            <a:off x="482600" y="1816100"/>
            <a:ext cx="53975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226AC1-C36C-D883-67B7-1307FAEB6880}"/>
              </a:ext>
            </a:extLst>
          </p:cNvPr>
          <p:cNvSpPr/>
          <p:nvPr/>
        </p:nvSpPr>
        <p:spPr>
          <a:xfrm>
            <a:off x="482600" y="1816100"/>
            <a:ext cx="63500" cy="3111500"/>
          </a:xfrm>
          <a:prstGeom prst="rect">
            <a:avLst/>
          </a:prstGeom>
          <a:solidFill>
            <a:srgbClr val="2F7CF6"/>
          </a:solidFill>
          <a:ln w="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1AF1BA5-216E-3687-093A-5CDDB75C0D8C}"/>
              </a:ext>
            </a:extLst>
          </p:cNvPr>
          <p:cNvSpPr txBox="1"/>
          <p:nvPr/>
        </p:nvSpPr>
        <p:spPr>
          <a:xfrm>
            <a:off x="711200" y="1950794"/>
            <a:ext cx="50165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人物与时间线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2C61041-D3F9-D191-A40C-3B24FFA362AB}"/>
              </a:ext>
            </a:extLst>
          </p:cNvPr>
          <p:cNvSpPr txBox="1"/>
          <p:nvPr/>
        </p:nvSpPr>
        <p:spPr>
          <a:xfrm>
            <a:off x="711200" y="2520434"/>
            <a:ext cx="50165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人物：姓名、别名、目标、关系和变化
时间线：实际顺序、日期、季节和地点
倒叙和并行线按真实发生时间记录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C6F45B-332E-0438-2A24-64BC0D9518D9}"/>
              </a:ext>
            </a:extLst>
          </p:cNvPr>
          <p:cNvSpPr/>
          <p:nvPr/>
        </p:nvSpPr>
        <p:spPr>
          <a:xfrm>
            <a:off x="6121400" y="1816100"/>
            <a:ext cx="55880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E6667EF-6CA6-2993-C2FA-FD10A3D6870E}"/>
              </a:ext>
            </a:extLst>
          </p:cNvPr>
          <p:cNvSpPr/>
          <p:nvPr/>
        </p:nvSpPr>
        <p:spPr>
          <a:xfrm>
            <a:off x="6121400" y="1816100"/>
            <a:ext cx="63500" cy="3111500"/>
          </a:xfrm>
          <a:prstGeom prst="rect">
            <a:avLst/>
          </a:prstGeom>
          <a:solidFill>
            <a:srgbClr val="2E9D72"/>
          </a:solidFill>
          <a:ln w="0">
            <a:solidFill>
              <a:srgbClr val="2E9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4089832-BEF0-E807-3044-5F9ACB6E11EF}"/>
              </a:ext>
            </a:extLst>
          </p:cNvPr>
          <p:cNvSpPr txBox="1"/>
          <p:nvPr/>
        </p:nvSpPr>
        <p:spPr>
          <a:xfrm>
            <a:off x="6350000" y="1950794"/>
            <a:ext cx="52070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伏笔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9C152EF-305F-83AF-776D-0AA778137954}"/>
              </a:ext>
            </a:extLst>
          </p:cNvPr>
          <p:cNvSpPr txBox="1"/>
          <p:nvPr/>
        </p:nvSpPr>
        <p:spPr>
          <a:xfrm>
            <a:off x="6350000" y="2520434"/>
            <a:ext cx="52070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记录埋下、推进和回收
标明首次出现章节
写清什么时候可以揭晓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7D86CF2-66D7-B8E5-093C-BBFDD232509C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5D1B1FB-BF3A-BB1F-9197-57ACF9D42584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资料变化后及时更新。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1984545-A02A-8360-67D8-F0719D099ED4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25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63620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189A91C-1920-5E56-BAA5-501375CC93CF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7E5507-463D-2EF7-EC99-0A493A0D9C1F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@</a:t>
            </a:r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引用帮助系统找到正确资料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544919-161A-5024-8B2F-6A1DF3FBBDFB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6D7523-8FDA-C0BC-0F48-E8BBDA81CDE7}"/>
              </a:ext>
            </a:extLst>
          </p:cNvPr>
          <p:cNvSpPr/>
          <p:nvPr/>
        </p:nvSpPr>
        <p:spPr>
          <a:xfrm>
            <a:off x="482600" y="1816100"/>
            <a:ext cx="53975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49A556-EFD6-529D-22CA-3CFA9D2FFE45}"/>
              </a:ext>
            </a:extLst>
          </p:cNvPr>
          <p:cNvSpPr/>
          <p:nvPr/>
        </p:nvSpPr>
        <p:spPr>
          <a:xfrm>
            <a:off x="482600" y="1816100"/>
            <a:ext cx="63500" cy="3111500"/>
          </a:xfrm>
          <a:prstGeom prst="rect">
            <a:avLst/>
          </a:prstGeom>
          <a:solidFill>
            <a:srgbClr val="2F7CF6"/>
          </a:solidFill>
          <a:ln w="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E605DC5-FD1A-2E80-D62C-6A7652A7502C}"/>
              </a:ext>
            </a:extLst>
          </p:cNvPr>
          <p:cNvSpPr txBox="1"/>
          <p:nvPr/>
        </p:nvSpPr>
        <p:spPr>
          <a:xfrm>
            <a:off x="711200" y="1950794"/>
            <a:ext cx="50165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怎么使用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5D11F78-9C57-35D9-6A9B-BC80644795EE}"/>
              </a:ext>
            </a:extLst>
          </p:cNvPr>
          <p:cNvSpPr txBox="1"/>
          <p:nvPr/>
        </p:nvSpPr>
        <p:spPr>
          <a:xfrm>
            <a:off x="711200" y="2520434"/>
            <a:ext cx="50165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在正文输入 </a:t>
            </a:r>
            <a:r>
              <a:rPr lang="en-US" altLang="zh-CN" sz="1400">
                <a:solidFill>
                  <a:srgbClr val="65727E"/>
                </a:solidFill>
                <a:latin typeface="Microsoft YaHei" panose="020B0503020204020204" pitchFamily="34" charset="-122"/>
              </a:rPr>
              <a:t>@ </a:t>
            </a:r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和关键词
选择人物、事件或伏笔
鼠标停留查看摘要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0B43210-7647-BB6F-5439-1675CD7DA45B}"/>
              </a:ext>
            </a:extLst>
          </p:cNvPr>
          <p:cNvSpPr/>
          <p:nvPr/>
        </p:nvSpPr>
        <p:spPr>
          <a:xfrm>
            <a:off x="6121400" y="1816100"/>
            <a:ext cx="55880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5128BA-2492-B7F6-044A-ECD461DF8E0F}"/>
              </a:ext>
            </a:extLst>
          </p:cNvPr>
          <p:cNvSpPr/>
          <p:nvPr/>
        </p:nvSpPr>
        <p:spPr>
          <a:xfrm>
            <a:off x="6121400" y="1816100"/>
            <a:ext cx="63500" cy="3111500"/>
          </a:xfrm>
          <a:prstGeom prst="rect">
            <a:avLst/>
          </a:prstGeom>
          <a:solidFill>
            <a:srgbClr val="2E9D72"/>
          </a:solidFill>
          <a:ln w="0">
            <a:solidFill>
              <a:srgbClr val="2E9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E9EE72D-5953-84ED-312D-DCA7A71B3DB4}"/>
              </a:ext>
            </a:extLst>
          </p:cNvPr>
          <p:cNvSpPr txBox="1"/>
          <p:nvPr/>
        </p:nvSpPr>
        <p:spPr>
          <a:xfrm>
            <a:off x="6350000" y="1950794"/>
            <a:ext cx="52070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显示异常时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EE52AE-6F16-9EAE-3D5B-0BC1CA4DFB0B}"/>
              </a:ext>
            </a:extLst>
          </p:cNvPr>
          <p:cNvSpPr txBox="1"/>
          <p:nvPr/>
        </p:nvSpPr>
        <p:spPr>
          <a:xfrm>
            <a:off x="6350000" y="2520434"/>
            <a:ext cx="52070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400">
                <a:solidFill>
                  <a:srgbClr val="65727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建议引用样式不同
资料变化后可能失效
重新输入 </a:t>
            </a:r>
            <a:r>
              <a:rPr lang="en-US" altLang="zh-CN" sz="1400">
                <a:solidFill>
                  <a:srgbClr val="65727E"/>
                </a:solidFill>
                <a:latin typeface="Microsoft YaHei" panose="020B0503020204020204" pitchFamily="34" charset="-122"/>
              </a:rPr>
              <a:t>@ </a:t>
            </a:r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并选择当前资料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865530-263C-0A5D-5B76-A02E11AF2CB7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29DD35D-E667-9131-1BA1-A0939C6E1A8A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引用不会把内部编号写进最终正文。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E4CBC5F-A2E0-E026-5D7B-CEA40F839EF0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26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8548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1FDFF6A-35A6-7AD3-E1C2-D8AAF4BD7C24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13F965-4458-A6E9-8525-C6BD8D6700E4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选区改写只改你选中的那一小段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0783-B85D-B131-8924-5AD68EFEC729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0B13A8-DCB9-CE03-13B6-D95C252E144E}"/>
              </a:ext>
            </a:extLst>
          </p:cNvPr>
          <p:cNvSpPr txBox="1"/>
          <p:nvPr/>
        </p:nvSpPr>
        <p:spPr>
          <a:xfrm>
            <a:off x="673100" y="1730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2F7CF6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C46A24-689A-D829-925D-8418143B591A}"/>
              </a:ext>
            </a:extLst>
          </p:cNvPr>
          <p:cNvSpPr txBox="1"/>
          <p:nvPr/>
        </p:nvSpPr>
        <p:spPr>
          <a:xfrm>
            <a:off x="990600" y="1699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选中文字，选择扩写、缩写、润色或重写。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4C30C5-DF2F-15B0-45F4-616BD38E6FE8}"/>
              </a:ext>
            </a:extLst>
          </p:cNvPr>
          <p:cNvSpPr txBox="1"/>
          <p:nvPr/>
        </p:nvSpPr>
        <p:spPr>
          <a:xfrm>
            <a:off x="673100" y="2301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D065DA8-126E-9EBD-CFF9-A1387A3C373D}"/>
              </a:ext>
            </a:extLst>
          </p:cNvPr>
          <p:cNvSpPr txBox="1"/>
          <p:nvPr/>
        </p:nvSpPr>
        <p:spPr>
          <a:xfrm>
            <a:off x="990600" y="2270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扩写补细节；缩写去重复；润色改善表达。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AE30706-39BB-E91A-1194-ED85975D7702}"/>
              </a:ext>
            </a:extLst>
          </p:cNvPr>
          <p:cNvSpPr txBox="1"/>
          <p:nvPr/>
        </p:nvSpPr>
        <p:spPr>
          <a:xfrm>
            <a:off x="673100" y="2873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5B15D54-0866-098A-A193-0CCDC190D423}"/>
              </a:ext>
            </a:extLst>
          </p:cNvPr>
          <p:cNvSpPr txBox="1"/>
          <p:nvPr/>
        </p:nvSpPr>
        <p:spPr>
          <a:xfrm>
            <a:off x="990600" y="2842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等待新文后，对比原文和新文。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DD967CD-C2F9-099A-4AFD-EBC7A96B0836}"/>
              </a:ext>
            </a:extLst>
          </p:cNvPr>
          <p:cNvSpPr txBox="1"/>
          <p:nvPr/>
        </p:nvSpPr>
        <p:spPr>
          <a:xfrm>
            <a:off x="673100" y="3444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CF0C44-CA9E-C568-1104-BB752E582029}"/>
              </a:ext>
            </a:extLst>
          </p:cNvPr>
          <p:cNvSpPr txBox="1"/>
          <p:nvPr/>
        </p:nvSpPr>
        <p:spPr>
          <a:xfrm>
            <a:off x="990600" y="3413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需要时继续手工修改新文。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80C5FA1-A5D4-8F2B-8AA0-50517DB90082}"/>
              </a:ext>
            </a:extLst>
          </p:cNvPr>
          <p:cNvSpPr txBox="1"/>
          <p:nvPr/>
        </p:nvSpPr>
        <p:spPr>
          <a:xfrm>
            <a:off x="673100" y="4016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D7773FC-995F-2C38-E2BB-A61BBB50855F}"/>
              </a:ext>
            </a:extLst>
          </p:cNvPr>
          <p:cNvSpPr txBox="1"/>
          <p:nvPr/>
        </p:nvSpPr>
        <p:spPr>
          <a:xfrm>
            <a:off x="990600" y="3985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满意才采用，不满意就拒绝。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1B932C-6FC3-00B7-193C-F441BB962ADD}"/>
              </a:ext>
            </a:extLst>
          </p:cNvPr>
          <p:cNvSpPr txBox="1"/>
          <p:nvPr/>
        </p:nvSpPr>
        <p:spPr>
          <a:xfrm>
            <a:off x="673100" y="4587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F1A1C29-515C-C618-E784-7F543C2237DC}"/>
              </a:ext>
            </a:extLst>
          </p:cNvPr>
          <p:cNvSpPr txBox="1"/>
          <p:nvPr/>
        </p:nvSpPr>
        <p:spPr>
          <a:xfrm>
            <a:off x="990600" y="4556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应用后重新通读；不合适可以撤销。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7A8E7B7-9D96-694F-B9BB-D223F3F075F0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028C9FD-71BE-EC64-F620-BFB1D83D4D8A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关键场景优先自己写。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284929A-C16A-7649-6161-3C6DC0CCF8FA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27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85633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6AF24D8-0C5D-DB7F-219D-5A5A7A74E7C4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B12D77-84D3-A472-3C58-C50BCA6FA0F9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风格画像和开篇助手都只是参考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8FA9AD-A23A-14EF-77E8-CC669BC28AA5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2A6BC8-CE28-7A24-1F1C-0DF9B3C20DA8}"/>
              </a:ext>
            </a:extLst>
          </p:cNvPr>
          <p:cNvSpPr/>
          <p:nvPr/>
        </p:nvSpPr>
        <p:spPr>
          <a:xfrm>
            <a:off x="482600" y="1816100"/>
            <a:ext cx="53975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4F4991-A8D2-87E4-4241-493648A148D7}"/>
              </a:ext>
            </a:extLst>
          </p:cNvPr>
          <p:cNvSpPr/>
          <p:nvPr/>
        </p:nvSpPr>
        <p:spPr>
          <a:xfrm>
            <a:off x="482600" y="1816100"/>
            <a:ext cx="63500" cy="3111500"/>
          </a:xfrm>
          <a:prstGeom prst="rect">
            <a:avLst/>
          </a:prstGeom>
          <a:solidFill>
            <a:srgbClr val="2F7CF6"/>
          </a:solidFill>
          <a:ln w="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ECC2FC-9086-B7E3-4EA6-9D356D6B914D}"/>
              </a:ext>
            </a:extLst>
          </p:cNvPr>
          <p:cNvSpPr txBox="1"/>
          <p:nvPr/>
        </p:nvSpPr>
        <p:spPr>
          <a:xfrm>
            <a:off x="711200" y="1950794"/>
            <a:ext cx="50165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风格画像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0CE602-4233-BC87-DDD3-F98EFFC3B067}"/>
              </a:ext>
            </a:extLst>
          </p:cNvPr>
          <p:cNvSpPr txBox="1"/>
          <p:nvPr/>
        </p:nvSpPr>
        <p:spPr>
          <a:xfrm>
            <a:off x="711200" y="2520434"/>
            <a:ext cx="50165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选有代表性的自有章节
样本太短时不要过度相信
确认画像只表示允许参考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A3D336F-5F61-4617-5DDB-5FB181792A33}"/>
              </a:ext>
            </a:extLst>
          </p:cNvPr>
          <p:cNvSpPr/>
          <p:nvPr/>
        </p:nvSpPr>
        <p:spPr>
          <a:xfrm>
            <a:off x="6121400" y="1816100"/>
            <a:ext cx="55880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3D1E9C-58E3-FB9F-B760-D030AE96BCA1}"/>
              </a:ext>
            </a:extLst>
          </p:cNvPr>
          <p:cNvSpPr/>
          <p:nvPr/>
        </p:nvSpPr>
        <p:spPr>
          <a:xfrm>
            <a:off x="6121400" y="1816100"/>
            <a:ext cx="63500" cy="3111500"/>
          </a:xfrm>
          <a:prstGeom prst="rect">
            <a:avLst/>
          </a:prstGeom>
          <a:solidFill>
            <a:srgbClr val="2E9D72"/>
          </a:solidFill>
          <a:ln w="0">
            <a:solidFill>
              <a:srgbClr val="2E9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D5E702F-332A-3242-771E-6AC855A19460}"/>
              </a:ext>
            </a:extLst>
          </p:cNvPr>
          <p:cNvSpPr txBox="1"/>
          <p:nvPr/>
        </p:nvSpPr>
        <p:spPr>
          <a:xfrm>
            <a:off x="6350000" y="1950794"/>
            <a:ext cx="52070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开篇助手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B30F5E6-E51F-E3FE-ED9B-5E7B4CBDBC0A}"/>
              </a:ext>
            </a:extLst>
          </p:cNvPr>
          <p:cNvSpPr txBox="1"/>
          <p:nvPr/>
        </p:nvSpPr>
        <p:spPr>
          <a:xfrm>
            <a:off x="6350000" y="2520434"/>
            <a:ext cx="52070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先写故事想法，再选开篇方向
参考作品只分析结构
前三章仍然是候选稿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66B76A6-1CFB-2E33-B192-4165F0EF6A17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FB577DD-2504-0F0A-D08C-9510059B87E5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风格画像不会锁死写法。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2F7C94-F377-7518-4057-E8E1ACCDE774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28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56045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4B58F4F-50D7-4686-C9EA-AC13E0D82C79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1FA90A7-19E3-04C6-D116-B56FCF0423B6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先看引用，再处理冲突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D4D254-F35C-5CE0-BFAC-7F80DB6EA41E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0FD0A8-F398-FE39-D06F-C4506FC8E421}"/>
              </a:ext>
            </a:extLst>
          </p:cNvPr>
          <p:cNvSpPr/>
          <p:nvPr/>
        </p:nvSpPr>
        <p:spPr>
          <a:xfrm>
            <a:off x="482600" y="1816100"/>
            <a:ext cx="53975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AECE88-EB5A-50E8-4E4D-DD445E07A11B}"/>
              </a:ext>
            </a:extLst>
          </p:cNvPr>
          <p:cNvSpPr/>
          <p:nvPr/>
        </p:nvSpPr>
        <p:spPr>
          <a:xfrm>
            <a:off x="482600" y="1816100"/>
            <a:ext cx="63500" cy="3111500"/>
          </a:xfrm>
          <a:prstGeom prst="rect">
            <a:avLst/>
          </a:prstGeom>
          <a:solidFill>
            <a:srgbClr val="2F7CF6"/>
          </a:solidFill>
          <a:ln w="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59B535-E5FC-6D64-5ACD-8E1D38669FBB}"/>
              </a:ext>
            </a:extLst>
          </p:cNvPr>
          <p:cNvSpPr txBox="1"/>
          <p:nvPr/>
        </p:nvSpPr>
        <p:spPr>
          <a:xfrm>
            <a:off x="711200" y="1950794"/>
            <a:ext cx="50165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引用来源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458E05-A361-102C-D589-6FDA4A1B2DFA}"/>
              </a:ext>
            </a:extLst>
          </p:cNvPr>
          <p:cNvSpPr txBox="1"/>
          <p:nvPr/>
        </p:nvSpPr>
        <p:spPr>
          <a:xfrm>
            <a:off x="711200" y="2520434"/>
            <a:ext cx="50165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已确认：来源仍一致
已变化：按当前资料核对
找不到：不要直接相信相关说法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45E3B1-6757-6FC5-FF0B-9BF106003E5F}"/>
              </a:ext>
            </a:extLst>
          </p:cNvPr>
          <p:cNvSpPr/>
          <p:nvPr/>
        </p:nvSpPr>
        <p:spPr>
          <a:xfrm>
            <a:off x="6121400" y="1816100"/>
            <a:ext cx="55880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05CCFC-3C6A-B17A-7518-1B0AB8F3AF91}"/>
              </a:ext>
            </a:extLst>
          </p:cNvPr>
          <p:cNvSpPr/>
          <p:nvPr/>
        </p:nvSpPr>
        <p:spPr>
          <a:xfrm>
            <a:off x="6121400" y="1816100"/>
            <a:ext cx="63500" cy="3111500"/>
          </a:xfrm>
          <a:prstGeom prst="rect">
            <a:avLst/>
          </a:prstGeom>
          <a:solidFill>
            <a:srgbClr val="2E9D72"/>
          </a:solidFill>
          <a:ln w="0">
            <a:solidFill>
              <a:srgbClr val="2E9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2469439-44DE-935F-5D93-1850A04A147C}"/>
              </a:ext>
            </a:extLst>
          </p:cNvPr>
          <p:cNvSpPr txBox="1"/>
          <p:nvPr/>
        </p:nvSpPr>
        <p:spPr>
          <a:xfrm>
            <a:off x="6350000" y="1950794"/>
            <a:ext cx="52070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冲突等级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5BD0704-AE13-196A-AFE7-832D3C9CC6B2}"/>
              </a:ext>
            </a:extLst>
          </p:cNvPr>
          <p:cNvSpPr txBox="1"/>
          <p:nvPr/>
        </p:nvSpPr>
        <p:spPr>
          <a:xfrm>
            <a:off x="6350000" y="2520434"/>
            <a:ext cx="52070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一般提示：帮助理解
警告：知情后由作者决定
阻断：必须处理后才能应用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84E488-F41E-9170-1C6C-1AA10B9C7ED0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B376649-8B5E-6665-DEA3-B3310AB4C35B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阻断冲突不能被当成警告跳过。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ECAA38-6681-68B9-705D-5337DB4AAB69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29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66034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F002353-7A4E-7A74-4DE6-3C10E4FC9A11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F63A62-0C23-D4DA-99C1-50BB2E9F646B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应用正文以后，还要单独审阅故事记忆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925D64-3209-E9A0-2D2B-88A157B2C9B3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043631-296C-91F1-F2DD-8040650A982E}"/>
              </a:ext>
            </a:extLst>
          </p:cNvPr>
          <p:cNvSpPr txBox="1"/>
          <p:nvPr/>
        </p:nvSpPr>
        <p:spPr>
          <a:xfrm>
            <a:off x="673100" y="1730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2F7CF6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C27BC7-6716-9503-BB46-E7EE3AD9E308}"/>
              </a:ext>
            </a:extLst>
          </p:cNvPr>
          <p:cNvSpPr txBox="1"/>
          <p:nvPr/>
        </p:nvSpPr>
        <p:spPr>
          <a:xfrm>
            <a:off x="990600" y="1691789"/>
            <a:ext cx="10414000" cy="29751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600">
                <a:solidFill>
                  <a:srgbClr val="17212B"/>
                </a:solidFill>
                <a:latin typeface="Microsoft YaHei" panose="020B0503020204020204" pitchFamily="34" charset="-122"/>
              </a:rPr>
              <a:t>候选稿可能建议更新人物、设定、事件、时间线或伏笔。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1054EB-C256-633D-C2DB-931DAC77CC0D}"/>
              </a:ext>
            </a:extLst>
          </p:cNvPr>
          <p:cNvSpPr txBox="1"/>
          <p:nvPr/>
        </p:nvSpPr>
        <p:spPr>
          <a:xfrm>
            <a:off x="673100" y="23398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88D0AF-155E-1411-E4C8-556C263B5849}"/>
              </a:ext>
            </a:extLst>
          </p:cNvPr>
          <p:cNvSpPr txBox="1"/>
          <p:nvPr/>
        </p:nvSpPr>
        <p:spPr>
          <a:xfrm>
            <a:off x="990600" y="2301389"/>
            <a:ext cx="10414000" cy="29751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600">
                <a:solidFill>
                  <a:srgbClr val="17212B"/>
                </a:solidFill>
                <a:latin typeface="Microsoft YaHei" panose="020B0503020204020204" pitchFamily="34" charset="-122"/>
              </a:rPr>
              <a:t>判断内容是否真的发生，而不是计划、猜测或假象。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7F846C-2CF8-0DD4-6BD9-F1707A9FC544}"/>
              </a:ext>
            </a:extLst>
          </p:cNvPr>
          <p:cNvSpPr txBox="1"/>
          <p:nvPr/>
        </p:nvSpPr>
        <p:spPr>
          <a:xfrm>
            <a:off x="673100" y="29494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CA27C8A-ADF2-D1FA-056D-9F57BA4C0600}"/>
              </a:ext>
            </a:extLst>
          </p:cNvPr>
          <p:cNvSpPr txBox="1"/>
          <p:nvPr/>
        </p:nvSpPr>
        <p:spPr>
          <a:xfrm>
            <a:off x="990600" y="2910989"/>
            <a:ext cx="10414000" cy="29751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600">
                <a:solidFill>
                  <a:srgbClr val="17212B"/>
                </a:solidFill>
                <a:latin typeface="Microsoft YaHei" panose="020B0503020204020204" pitchFamily="34" charset="-122"/>
              </a:rPr>
              <a:t>可以通过、编辑后通过、拒绝或稍后处理。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B5957C-800A-8629-AC0C-E53D16888903}"/>
              </a:ext>
            </a:extLst>
          </p:cNvPr>
          <p:cNvSpPr txBox="1"/>
          <p:nvPr/>
        </p:nvSpPr>
        <p:spPr>
          <a:xfrm>
            <a:off x="673100" y="35590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2303278-3FD2-8734-0328-5F7197A97288}"/>
              </a:ext>
            </a:extLst>
          </p:cNvPr>
          <p:cNvSpPr txBox="1"/>
          <p:nvPr/>
        </p:nvSpPr>
        <p:spPr>
          <a:xfrm>
            <a:off x="990600" y="3520589"/>
            <a:ext cx="10414000" cy="29751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600">
                <a:solidFill>
                  <a:srgbClr val="17212B"/>
                </a:solidFill>
                <a:latin typeface="Microsoft YaHei" panose="020B0503020204020204" pitchFamily="34" charset="-122"/>
              </a:rPr>
              <a:t>一组建议确认后，再应用本组修订。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FE21D10-1B6D-D79C-1D73-F59239E6DDBF}"/>
              </a:ext>
            </a:extLst>
          </p:cNvPr>
          <p:cNvSpPr txBox="1"/>
          <p:nvPr/>
        </p:nvSpPr>
        <p:spPr>
          <a:xfrm>
            <a:off x="673100" y="41686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E84C918-A04E-88AA-D279-A624C20B719E}"/>
              </a:ext>
            </a:extLst>
          </p:cNvPr>
          <p:cNvSpPr txBox="1"/>
          <p:nvPr/>
        </p:nvSpPr>
        <p:spPr>
          <a:xfrm>
            <a:off x="990600" y="4130189"/>
            <a:ext cx="10414000" cy="29751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600">
                <a:solidFill>
                  <a:srgbClr val="17212B"/>
                </a:solidFill>
                <a:latin typeface="Microsoft YaHei" panose="020B0503020204020204" pitchFamily="34" charset="-122"/>
              </a:rPr>
              <a:t>正文采用和记忆更新是两个独立动作。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A19C909-B70A-B5C9-F27C-79AC66C42399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F4F5B11-6A5B-6EDA-4DD5-68E9786327A0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只有作者确认后，建议才进入正式故事记忆。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2701C68-AB29-8C38-1F3F-DBAEF5041BB5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30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75127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B2A2D14-ACD2-A024-354F-F787D470286A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3B3571-A9AD-ADA4-6826-C4695BDD6F22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预算页面先回答三个问题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136B89-1341-BF3E-FAF2-C9303DBA2B8C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2BD9278-D434-BB19-AE79-628083C92352}"/>
              </a:ext>
            </a:extLst>
          </p:cNvPr>
          <p:cNvSpPr txBox="1"/>
          <p:nvPr/>
        </p:nvSpPr>
        <p:spPr>
          <a:xfrm>
            <a:off x="673100" y="1730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2F7CF6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944565-2CBE-D012-4953-89F1B4B86C45}"/>
              </a:ext>
            </a:extLst>
          </p:cNvPr>
          <p:cNvSpPr txBox="1"/>
          <p:nvPr/>
        </p:nvSpPr>
        <p:spPr>
          <a:xfrm>
            <a:off x="990600" y="1699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本月预计用了多少钱？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B1080B7-8D4B-B7D9-FDF1-83C93BFFCFE3}"/>
              </a:ext>
            </a:extLst>
          </p:cNvPr>
          <p:cNvSpPr txBox="1"/>
          <p:nvPr/>
        </p:nvSpPr>
        <p:spPr>
          <a:xfrm>
            <a:off x="673100" y="2301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D83384E-F16B-EDB6-839E-D9613EC268B4}"/>
              </a:ext>
            </a:extLst>
          </p:cNvPr>
          <p:cNvSpPr txBox="1"/>
          <p:nvPr/>
        </p:nvSpPr>
        <p:spPr>
          <a:xfrm>
            <a:off x="990600" y="2270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本月预算还剩多少？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A6D622-66AC-EC4D-27FD-A63078695723}"/>
              </a:ext>
            </a:extLst>
          </p:cNvPr>
          <p:cNvSpPr txBox="1"/>
          <p:nvPr/>
        </p:nvSpPr>
        <p:spPr>
          <a:xfrm>
            <a:off x="673100" y="2873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0F3C893-A562-8732-F455-AC46099CBD1A}"/>
              </a:ext>
            </a:extLst>
          </p:cNvPr>
          <p:cNvSpPr txBox="1"/>
          <p:nvPr/>
        </p:nvSpPr>
        <p:spPr>
          <a:xfrm>
            <a:off x="990600" y="2842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当前预算状态是否允许继续？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0F701F5-B85D-9BDF-4329-CB8A53FBDC51}"/>
              </a:ext>
            </a:extLst>
          </p:cNvPr>
          <p:cNvSpPr txBox="1"/>
          <p:nvPr/>
        </p:nvSpPr>
        <p:spPr>
          <a:xfrm>
            <a:off x="673100" y="3444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21DFFDD-8195-EB74-CFCF-C1BD72421590}"/>
              </a:ext>
            </a:extLst>
          </p:cNvPr>
          <p:cNvSpPr txBox="1"/>
          <p:nvPr/>
        </p:nvSpPr>
        <p:spPr>
          <a:xfrm>
            <a:off x="990600" y="3413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作品可以继承默认预算，也可以单独设置。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2E02D3E-6D4D-0523-C6B4-4813B79A9F06}"/>
              </a:ext>
            </a:extLst>
          </p:cNvPr>
          <p:cNvSpPr txBox="1"/>
          <p:nvPr/>
        </p:nvSpPr>
        <p:spPr>
          <a:xfrm>
            <a:off x="673100" y="4016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3A96F2E-6A16-1C45-535D-D3B206337DFD}"/>
              </a:ext>
            </a:extLst>
          </p:cNvPr>
          <p:cNvSpPr txBox="1"/>
          <p:nvPr/>
        </p:nvSpPr>
        <p:spPr>
          <a:xfrm>
            <a:off x="990600" y="3985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手填价格前必须核对服务商官方说明。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DFC665B-BBA4-3596-6A27-F2D090025398}"/>
              </a:ext>
            </a:extLst>
          </p:cNvPr>
          <p:cNvSpPr txBox="1"/>
          <p:nvPr/>
        </p:nvSpPr>
        <p:spPr>
          <a:xfrm>
            <a:off x="673100" y="4587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4AB85E4-BA36-1C73-BE69-7705896FB85E}"/>
              </a:ext>
            </a:extLst>
          </p:cNvPr>
          <p:cNvSpPr txBox="1"/>
          <p:nvPr/>
        </p:nvSpPr>
        <p:spPr>
          <a:xfrm>
            <a:off x="990600" y="4556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费用或用量不明时，系统会保护性停下。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0D1CA04-AFF7-6648-1DFE-A8F0E85DC58F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7280EEF-D91C-602E-4824-67A686D2F888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调高预算后仍要回原功能点击继续。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54A732C-F93C-8421-6A27-F206A74B341A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31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67804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C5D0E8D-5C34-3092-DD31-651A74A05A2D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2E8191-5529-F86C-7408-45218089E550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创作分析帮你发现现象，不给作品打分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066E8A-6CE3-F47B-247D-36D2C401F5C9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E4CF68-5E9C-0000-0BB2-E5F10608E47F}"/>
              </a:ext>
            </a:extLst>
          </p:cNvPr>
          <p:cNvSpPr/>
          <p:nvPr/>
        </p:nvSpPr>
        <p:spPr>
          <a:xfrm>
            <a:off x="482600" y="1816100"/>
            <a:ext cx="53975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F220C4-3518-6157-A0A6-035946B600FC}"/>
              </a:ext>
            </a:extLst>
          </p:cNvPr>
          <p:cNvSpPr/>
          <p:nvPr/>
        </p:nvSpPr>
        <p:spPr>
          <a:xfrm>
            <a:off x="482600" y="1816100"/>
            <a:ext cx="63500" cy="3111500"/>
          </a:xfrm>
          <a:prstGeom prst="rect">
            <a:avLst/>
          </a:prstGeom>
          <a:solidFill>
            <a:srgbClr val="2F7CF6"/>
          </a:solidFill>
          <a:ln w="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335E73-44E2-3BC3-BD83-E752073E8EAF}"/>
              </a:ext>
            </a:extLst>
          </p:cNvPr>
          <p:cNvSpPr txBox="1"/>
          <p:nvPr/>
        </p:nvSpPr>
        <p:spPr>
          <a:xfrm>
            <a:off x="711200" y="1950794"/>
            <a:ext cx="50165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可以观察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5F8A4B-2D40-7043-03B2-6898A5A9BF85}"/>
              </a:ext>
            </a:extLst>
          </p:cNvPr>
          <p:cNvSpPr txBox="1"/>
          <p:nvPr/>
        </p:nvSpPr>
        <p:spPr>
          <a:xfrm>
            <a:off x="711200" y="2520434"/>
            <a:ext cx="50165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篇幅、节奏和高潮间隔
对白比例和常用词
风格变化和候选稿使用情况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DAB2C8F-1AF5-C5DF-C537-684D6937096F}"/>
              </a:ext>
            </a:extLst>
          </p:cNvPr>
          <p:cNvSpPr/>
          <p:nvPr/>
        </p:nvSpPr>
        <p:spPr>
          <a:xfrm>
            <a:off x="6121400" y="1816100"/>
            <a:ext cx="55880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42071F9-9BB5-2202-9009-7C83A8119673}"/>
              </a:ext>
            </a:extLst>
          </p:cNvPr>
          <p:cNvSpPr/>
          <p:nvPr/>
        </p:nvSpPr>
        <p:spPr>
          <a:xfrm>
            <a:off x="6121400" y="1816100"/>
            <a:ext cx="63500" cy="3111500"/>
          </a:xfrm>
          <a:prstGeom prst="rect">
            <a:avLst/>
          </a:prstGeom>
          <a:solidFill>
            <a:srgbClr val="2E9D72"/>
          </a:solidFill>
          <a:ln w="0">
            <a:solidFill>
              <a:srgbClr val="2E9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4534DF7-D525-1EEA-AE15-3B16F9A5F560}"/>
              </a:ext>
            </a:extLst>
          </p:cNvPr>
          <p:cNvSpPr txBox="1"/>
          <p:nvPr/>
        </p:nvSpPr>
        <p:spPr>
          <a:xfrm>
            <a:off x="6350000" y="1950794"/>
            <a:ext cx="52070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正确理解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0455F53-CD4E-B6E9-56F5-2A3DD0E2A2F3}"/>
              </a:ext>
            </a:extLst>
          </p:cNvPr>
          <p:cNvSpPr txBox="1"/>
          <p:nvPr/>
        </p:nvSpPr>
        <p:spPr>
          <a:xfrm>
            <a:off x="6350000" y="2520434"/>
            <a:ext cx="52070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长篇可能使用缓存
正文变化后可重新统计
</a:t>
            </a:r>
            <a:r>
              <a:rPr lang="en-US" altLang="zh-CN" sz="1400">
                <a:solidFill>
                  <a:srgbClr val="65727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使用分析不是 </a:t>
            </a:r>
            <a:r>
              <a:rPr lang="en-US" altLang="zh-CN" sz="1400">
                <a:solidFill>
                  <a:srgbClr val="65727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文本检测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ABDB1B-D828-B9BD-D9B2-D43D172296C7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2B3A766-11F2-3A1C-D503-C51821BAB8D2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看到异常后，回到章节亲自阅读。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9BBCFCE-1BA6-ACC5-4CC7-10388C60A8D2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32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52569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28157E6-AB6C-8461-FE66-3589A00D6387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35F53E-4770-0596-BFDD-3837CD7C1986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按钮不见、变灰或任务停住，先找原因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63D354-56AC-F02E-DD15-DFFE74B4C578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7CD239-39B8-1861-EE2E-24B613ACA292}"/>
              </a:ext>
            </a:extLst>
          </p:cNvPr>
          <p:cNvSpPr/>
          <p:nvPr/>
        </p:nvSpPr>
        <p:spPr>
          <a:xfrm>
            <a:off x="482600" y="1816100"/>
            <a:ext cx="53975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4815F5-BC02-AD05-8677-7EACB2E7672E}"/>
              </a:ext>
            </a:extLst>
          </p:cNvPr>
          <p:cNvSpPr/>
          <p:nvPr/>
        </p:nvSpPr>
        <p:spPr>
          <a:xfrm>
            <a:off x="482600" y="1816100"/>
            <a:ext cx="63500" cy="3111500"/>
          </a:xfrm>
          <a:prstGeom prst="rect">
            <a:avLst/>
          </a:prstGeom>
          <a:solidFill>
            <a:srgbClr val="2F7CF6"/>
          </a:solidFill>
          <a:ln w="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65846F-5C89-02A8-0B7D-5B90DACDF959}"/>
              </a:ext>
            </a:extLst>
          </p:cNvPr>
          <p:cNvSpPr txBox="1"/>
          <p:nvPr/>
        </p:nvSpPr>
        <p:spPr>
          <a:xfrm>
            <a:off x="711200" y="1950794"/>
            <a:ext cx="50165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入口问题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9BBAB0D-F488-AA3A-4AA0-F4584B89EC6C}"/>
              </a:ext>
            </a:extLst>
          </p:cNvPr>
          <p:cNvSpPr txBox="1"/>
          <p:nvPr/>
        </p:nvSpPr>
        <p:spPr>
          <a:xfrm>
            <a:off x="711200" y="2520434"/>
            <a:ext cx="50165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检查写作助手开关
确认已选章节并完成 </a:t>
            </a:r>
            <a:r>
              <a:rPr lang="en-US" altLang="zh-CN" sz="1400">
                <a:solidFill>
                  <a:srgbClr val="65727E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配置
检查未保存修改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45E67C-AB1A-BE61-9E2B-2B8B1C9BB1B5}"/>
              </a:ext>
            </a:extLst>
          </p:cNvPr>
          <p:cNvSpPr/>
          <p:nvPr/>
        </p:nvSpPr>
        <p:spPr>
          <a:xfrm>
            <a:off x="6121400" y="1816100"/>
            <a:ext cx="55880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D29CF2-89EB-0E83-2408-49209BFDC0C9}"/>
              </a:ext>
            </a:extLst>
          </p:cNvPr>
          <p:cNvSpPr/>
          <p:nvPr/>
        </p:nvSpPr>
        <p:spPr>
          <a:xfrm>
            <a:off x="6121400" y="1816100"/>
            <a:ext cx="63500" cy="3111500"/>
          </a:xfrm>
          <a:prstGeom prst="rect">
            <a:avLst/>
          </a:prstGeom>
          <a:solidFill>
            <a:srgbClr val="2E9D72"/>
          </a:solidFill>
          <a:ln w="0">
            <a:solidFill>
              <a:srgbClr val="2E9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7D818A-0A06-D0E0-48CD-A56BD0ED17CE}"/>
              </a:ext>
            </a:extLst>
          </p:cNvPr>
          <p:cNvSpPr txBox="1"/>
          <p:nvPr/>
        </p:nvSpPr>
        <p:spPr>
          <a:xfrm>
            <a:off x="6350000" y="1950794"/>
            <a:ext cx="52070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任务问题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B03002C-6E1D-E760-FD9A-A8198B694E7E}"/>
              </a:ext>
            </a:extLst>
          </p:cNvPr>
          <p:cNvSpPr txBox="1"/>
          <p:nvPr/>
        </p:nvSpPr>
        <p:spPr>
          <a:xfrm>
            <a:off x="6350000" y="2520434"/>
            <a:ext cx="5207000" cy="69762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看是否等待方向、计划或审阅
检查预算、冲突和伏笔保护
处理后回原任务继续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9C9004-EF41-FA66-D3C8-B18719A31155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7B2AABC-EEEF-F4FF-08D0-E81CBA2A015C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不要连续创建多个相同任务。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5167115-6A58-ABC5-B7F8-B03D6B40EA2D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33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28039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DCA959A-C8E3-B5AB-15B4-98E96800EEB4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1518AA-15E3-D6BA-4D73-B2DCE53E96DB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每天写一章，按这个顺序最稳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77D094-FDD0-1CA1-FC39-3B5275BA0ECF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7E7C73-A117-8060-5341-2184C2E4D808}"/>
              </a:ext>
            </a:extLst>
          </p:cNvPr>
          <p:cNvSpPr txBox="1"/>
          <p:nvPr/>
        </p:nvSpPr>
        <p:spPr>
          <a:xfrm>
            <a:off x="673100" y="1730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2F7CF6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F1706E-E89F-6A65-42AF-2646204A6070}"/>
              </a:ext>
            </a:extLst>
          </p:cNvPr>
          <p:cNvSpPr txBox="1"/>
          <p:nvPr/>
        </p:nvSpPr>
        <p:spPr>
          <a:xfrm>
            <a:off x="990600" y="1699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开始前：看上一章结尾、本章目标、人物和伏笔。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ABA2D3-C729-E32D-008B-5B9ED1B49157}"/>
              </a:ext>
            </a:extLst>
          </p:cNvPr>
          <p:cNvSpPr txBox="1"/>
          <p:nvPr/>
        </p:nvSpPr>
        <p:spPr>
          <a:xfrm>
            <a:off x="673100" y="2301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B30E09-3A3F-E42D-BFB9-3B013FD37B0E}"/>
              </a:ext>
            </a:extLst>
          </p:cNvPr>
          <p:cNvSpPr txBox="1"/>
          <p:nvPr/>
        </p:nvSpPr>
        <p:spPr>
          <a:xfrm>
            <a:off x="990600" y="2270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写作中：关键场景自己写；卡住时再用接着写。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6E9A6CE-9EDC-DC13-A8AC-FEE19FB449DA}"/>
              </a:ext>
            </a:extLst>
          </p:cNvPr>
          <p:cNvSpPr txBox="1"/>
          <p:nvPr/>
        </p:nvSpPr>
        <p:spPr>
          <a:xfrm>
            <a:off x="673100" y="2873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9D35F1-8EC5-7178-C89C-FCC7F270A6E2}"/>
              </a:ext>
            </a:extLst>
          </p:cNvPr>
          <p:cNvSpPr txBox="1"/>
          <p:nvPr/>
        </p:nvSpPr>
        <p:spPr>
          <a:xfrm>
            <a:off x="990600" y="2842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局部表达不满意时，只改选中的内容。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3784E89-EC5B-FA1A-44BA-E251FA92A862}"/>
              </a:ext>
            </a:extLst>
          </p:cNvPr>
          <p:cNvSpPr txBox="1"/>
          <p:nvPr/>
        </p:nvSpPr>
        <p:spPr>
          <a:xfrm>
            <a:off x="673100" y="3444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517B9F9-BABD-51A9-8B39-87931B7808A4}"/>
              </a:ext>
            </a:extLst>
          </p:cNvPr>
          <p:cNvSpPr txBox="1"/>
          <p:nvPr/>
        </p:nvSpPr>
        <p:spPr>
          <a:xfrm>
            <a:off x="990600" y="3413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候选稿完成后，查看全文、引用、审阅和冲突。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13AA250-9666-20DC-DE27-B26301E8771B}"/>
              </a:ext>
            </a:extLst>
          </p:cNvPr>
          <p:cNvSpPr txBox="1"/>
          <p:nvPr/>
        </p:nvSpPr>
        <p:spPr>
          <a:xfrm>
            <a:off x="673100" y="40162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D131211-7519-A43C-F702-223BE90510F9}"/>
              </a:ext>
            </a:extLst>
          </p:cNvPr>
          <p:cNvSpPr txBox="1"/>
          <p:nvPr/>
        </p:nvSpPr>
        <p:spPr>
          <a:xfrm>
            <a:off x="990600" y="39854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满意才接受和应用；然后自己修改并保存。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359A1B5-D40B-FBE3-5B47-8EA5C04B3E8E}"/>
              </a:ext>
            </a:extLst>
          </p:cNvPr>
          <p:cNvSpPr txBox="1"/>
          <p:nvPr/>
        </p:nvSpPr>
        <p:spPr>
          <a:xfrm>
            <a:off x="673100" y="4587761"/>
            <a:ext cx="279400" cy="2205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100" b="1">
                <a:solidFill>
                  <a:srgbClr val="63C7E8"/>
                </a:solidFill>
                <a:latin typeface="Microsoft YaHei" panose="020B0503020204020204" pitchFamily="34" charset="-122"/>
              </a:rPr>
              <a:t>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7DC9EC-6AA7-0419-D21A-FBD70FFB3550}"/>
              </a:ext>
            </a:extLst>
          </p:cNvPr>
          <p:cNvSpPr txBox="1"/>
          <p:nvPr/>
        </p:nvSpPr>
        <p:spPr>
          <a:xfrm>
            <a:off x="990600" y="4556983"/>
            <a:ext cx="10414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500">
                <a:solidFill>
                  <a:srgbClr val="17212B"/>
                </a:solidFill>
                <a:latin typeface="Microsoft YaHei" panose="020B0503020204020204" pitchFamily="34" charset="-122"/>
              </a:rPr>
              <a:t>最后审阅故事记忆，再进入下一章。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7F2F72C-7D2F-D5DC-C1F8-BA3AD72D1325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FE7486-8BE8-5396-C592-83387A419AF4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每写完 </a:t>
            </a:r>
            <a:r>
              <a:rPr lang="en-US" altLang="zh-CN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3—5 </a:t>
            </a:r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章，再更新资料并查看费用和分析。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CA2571B-1DD6-5719-847C-B805F03B853E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34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21335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28CBCF-FF18-54E3-C206-4585BE2F38A5}"/>
              </a:ext>
            </a:extLst>
          </p:cNvPr>
          <p:cNvSpPr txBox="1"/>
          <p:nvPr/>
        </p:nvSpPr>
        <p:spPr>
          <a:xfrm>
            <a:off x="482600" y="315555"/>
            <a:ext cx="6604000" cy="20518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en-US" altLang="zh-CN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INKTRACE · </a:t>
            </a:r>
            <a:r>
              <a:rPr lang="zh-CN" altLang="en-US" sz="1000" b="1">
                <a:solidFill>
                  <a:srgbClr val="65727E"/>
                </a:solidFill>
                <a:latin typeface="Microsoft YaHei" panose="020B0503020204020204" pitchFamily="34" charset="-122"/>
              </a:rPr>
              <a:t>小白写手指南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52168E-B80C-7BBB-D674-CD7F92589091}"/>
              </a:ext>
            </a:extLst>
          </p:cNvPr>
          <p:cNvSpPr txBox="1"/>
          <p:nvPr/>
        </p:nvSpPr>
        <p:spPr>
          <a:xfrm>
            <a:off x="482600" y="524962"/>
            <a:ext cx="11239500" cy="497572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2900" b="1">
                <a:solidFill>
                  <a:srgbClr val="17212B"/>
                </a:solidFill>
                <a:latin typeface="Microsoft YaHei" panose="020B0503020204020204" pitchFamily="34" charset="-122"/>
              </a:rPr>
              <a:t>封版使用前，完成最后十项检查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AF6F58-AD81-E49F-C83A-B5A7847313E1}"/>
              </a:ext>
            </a:extLst>
          </p:cNvPr>
          <p:cNvSpPr/>
          <p:nvPr/>
        </p:nvSpPr>
        <p:spPr>
          <a:xfrm>
            <a:off x="482600" y="1422400"/>
            <a:ext cx="11226800" cy="19050"/>
          </a:xfrm>
          <a:prstGeom prst="rect">
            <a:avLst/>
          </a:prstGeom>
          <a:solidFill>
            <a:srgbClr val="C6D0D8"/>
          </a:solidFill>
          <a:ln w="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47F986-7D55-8BB8-29EB-2EF8953CF165}"/>
              </a:ext>
            </a:extLst>
          </p:cNvPr>
          <p:cNvSpPr/>
          <p:nvPr/>
        </p:nvSpPr>
        <p:spPr>
          <a:xfrm>
            <a:off x="482600" y="1816100"/>
            <a:ext cx="53975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905A21-8BEE-CA7D-7681-884902F87A1F}"/>
              </a:ext>
            </a:extLst>
          </p:cNvPr>
          <p:cNvSpPr/>
          <p:nvPr/>
        </p:nvSpPr>
        <p:spPr>
          <a:xfrm>
            <a:off x="482600" y="1816100"/>
            <a:ext cx="63500" cy="3111500"/>
          </a:xfrm>
          <a:prstGeom prst="rect">
            <a:avLst/>
          </a:prstGeom>
          <a:solidFill>
            <a:srgbClr val="2F7CF6"/>
          </a:solidFill>
          <a:ln w="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D4406B-4646-ABC2-7C16-FC3058ED3EC2}"/>
              </a:ext>
            </a:extLst>
          </p:cNvPr>
          <p:cNvSpPr txBox="1"/>
          <p:nvPr/>
        </p:nvSpPr>
        <p:spPr>
          <a:xfrm>
            <a:off x="711200" y="1950794"/>
            <a:ext cx="50165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作品与配置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BB03DFE-8F2D-6BFE-5D13-E322F16829BD}"/>
              </a:ext>
            </a:extLst>
          </p:cNvPr>
          <p:cNvSpPr txBox="1"/>
          <p:nvPr/>
        </p:nvSpPr>
        <p:spPr>
          <a:xfrm>
            <a:off x="711200" y="2304990"/>
            <a:ext cx="5016500" cy="112851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章节可正常打开和保存
模型连接测试成功
助手可在设置中心开关
预算保护已设置
上下文可以构建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4BCACD8-E95D-F71A-C547-71176076CFB4}"/>
              </a:ext>
            </a:extLst>
          </p:cNvPr>
          <p:cNvSpPr/>
          <p:nvPr/>
        </p:nvSpPr>
        <p:spPr>
          <a:xfrm>
            <a:off x="6121400" y="1816100"/>
            <a:ext cx="5588000" cy="3111500"/>
          </a:xfrm>
          <a:prstGeom prst="rect">
            <a:avLst/>
          </a:prstGeom>
          <a:solidFill>
            <a:srgbClr val="F4F7F9"/>
          </a:solidFill>
          <a:ln w="10160">
            <a:solidFill>
              <a:srgbClr val="C6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51609D-9E99-B563-A717-43D8CE85BEB3}"/>
              </a:ext>
            </a:extLst>
          </p:cNvPr>
          <p:cNvSpPr/>
          <p:nvPr/>
        </p:nvSpPr>
        <p:spPr>
          <a:xfrm>
            <a:off x="6121400" y="1816100"/>
            <a:ext cx="63500" cy="3111500"/>
          </a:xfrm>
          <a:prstGeom prst="rect">
            <a:avLst/>
          </a:prstGeom>
          <a:solidFill>
            <a:srgbClr val="2E9D72"/>
          </a:solidFill>
          <a:ln w="0">
            <a:solidFill>
              <a:srgbClr val="2E9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8C27E4F-9260-FDC2-3CDF-F8780D51BD85}"/>
              </a:ext>
            </a:extLst>
          </p:cNvPr>
          <p:cNvSpPr txBox="1"/>
          <p:nvPr/>
        </p:nvSpPr>
        <p:spPr>
          <a:xfrm>
            <a:off x="6350000" y="1950794"/>
            <a:ext cx="5207000" cy="31290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700" b="1">
                <a:solidFill>
                  <a:srgbClr val="17212B"/>
                </a:solidFill>
                <a:latin typeface="Microsoft YaHei" panose="020B0503020204020204" pitchFamily="34" charset="-122"/>
              </a:rPr>
              <a:t>安全与确认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EEE49A-C2E5-3F9C-67E5-8ADBDEFDDDCB}"/>
              </a:ext>
            </a:extLst>
          </p:cNvPr>
          <p:cNvSpPr txBox="1"/>
          <p:nvPr/>
        </p:nvSpPr>
        <p:spPr>
          <a:xfrm>
            <a:off x="6350000" y="2304990"/>
            <a:ext cx="5207000" cy="1128514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r>
              <a:rPr lang="zh-CN" altLang="en-US" sz="1400">
                <a:solidFill>
                  <a:srgbClr val="65727E"/>
                </a:solidFill>
                <a:latin typeface="Microsoft YaHei" panose="020B0503020204020204" pitchFamily="34" charset="-122"/>
              </a:rPr>
              <a:t>方向和计划由作者确认
候选稿不会自动进正文
阻断冲突不能跳过
故事记忆单独审批
停止任务不会自动恢复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639A20A-6BD0-7D97-0941-26C33FAC05A3}"/>
              </a:ext>
            </a:extLst>
          </p:cNvPr>
          <p:cNvSpPr/>
          <p:nvPr/>
        </p:nvSpPr>
        <p:spPr>
          <a:xfrm>
            <a:off x="482600" y="5461000"/>
            <a:ext cx="11226800" cy="711200"/>
          </a:xfrm>
          <a:prstGeom prst="rect">
            <a:avLst/>
          </a:prstGeom>
          <a:solidFill>
            <a:srgbClr val="F4F7F9"/>
          </a:solidFill>
          <a:ln w="17780">
            <a:solidFill>
              <a:srgbClr val="2F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90FFE68-BF2F-689C-4FA8-B9084AB0B37A}"/>
              </a:ext>
            </a:extLst>
          </p:cNvPr>
          <p:cNvSpPr txBox="1"/>
          <p:nvPr/>
        </p:nvSpPr>
        <p:spPr>
          <a:xfrm>
            <a:off x="698500" y="5598383"/>
            <a:ext cx="10795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7212B"/>
                </a:solidFill>
                <a:latin typeface="Microsoft YaHei" panose="020B0503020204020204" pitchFamily="34" charset="-122"/>
              </a:rPr>
              <a:t>全部确认后，再开始较长的多章任务。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E830831-47BF-A613-EBC8-A7B1715074CF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35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85355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B17CE5B-EFD6-073D-D788-F7D97E3E9719}"/>
              </a:ext>
            </a:extLst>
          </p:cNvPr>
          <p:cNvSpPr txBox="1"/>
          <p:nvPr/>
        </p:nvSpPr>
        <p:spPr>
          <a:xfrm>
            <a:off x="1714500" y="235060"/>
            <a:ext cx="8763000" cy="2144177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3400" b="1">
                <a:solidFill>
                  <a:srgbClr val="17212B"/>
                </a:solidFill>
                <a:latin typeface="Microsoft YaHei" panose="020B0503020204020204" pitchFamily="34" charset="-122"/>
              </a:rPr>
              <a:t>先决定方向
再准备候选
看过、改过、确认过
最后才进入正文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129791-0DD9-636E-84AC-A786C4B3B183}"/>
              </a:ext>
            </a:extLst>
          </p:cNvPr>
          <p:cNvSpPr/>
          <p:nvPr/>
        </p:nvSpPr>
        <p:spPr>
          <a:xfrm>
            <a:off x="2286000" y="5143500"/>
            <a:ext cx="7620000" cy="25400"/>
          </a:xfrm>
          <a:prstGeom prst="rect">
            <a:avLst/>
          </a:prstGeom>
          <a:solidFill>
            <a:srgbClr val="63C7E8"/>
          </a:solidFill>
          <a:ln w="0">
            <a:solidFill>
              <a:srgbClr val="63C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CBDEF9C-A05A-A86C-A4DA-137496677520}"/>
              </a:ext>
            </a:extLst>
          </p:cNvPr>
          <p:cNvSpPr txBox="1"/>
          <p:nvPr/>
        </p:nvSpPr>
        <p:spPr>
          <a:xfrm>
            <a:off x="482600" y="5445611"/>
            <a:ext cx="11226800" cy="359073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2000" b="1">
                <a:solidFill>
                  <a:srgbClr val="2F7CF6"/>
                </a:solidFill>
                <a:latin typeface="Microsoft YaHei" panose="020B0503020204020204" pitchFamily="34" charset="-122"/>
              </a:rPr>
              <a:t>你始终是作者。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585FD6-DBA6-6FB0-9703-F863487F644F}"/>
              </a:ext>
            </a:extLst>
          </p:cNvPr>
          <p:cNvSpPr txBox="1"/>
          <p:nvPr/>
        </p:nvSpPr>
        <p:spPr>
          <a:xfrm>
            <a:off x="11112500" y="6495449"/>
            <a:ext cx="571500" cy="189796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r"/>
            <a:r>
              <a:rPr lang="en-US" altLang="zh-CN" sz="900" b="1">
                <a:solidFill>
                  <a:srgbClr val="65727E"/>
                </a:solidFill>
                <a:latin typeface="Microsoft YaHei" panose="020B0503020204020204" pitchFamily="34" charset="-122"/>
              </a:rPr>
              <a:t>36</a:t>
            </a:r>
            <a:endParaRPr lang="zh-CN" altLang="en-US" sz="900" b="1">
              <a:solidFill>
                <a:srgbClr val="65727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122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2799</Words>
  <Application>Microsoft Office PowerPoint</Application>
  <PresentationFormat>自定义</PresentationFormat>
  <Paragraphs>386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1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利群 孔</dc:creator>
  <cp:lastModifiedBy>利群 孔</cp:lastModifiedBy>
  <cp:revision>1</cp:revision>
  <dcterms:created xsi:type="dcterms:W3CDTF">2026-07-13T07:39:30Z</dcterms:created>
  <dcterms:modified xsi:type="dcterms:W3CDTF">2026-07-13T07:39:30Z</dcterms:modified>
</cp:coreProperties>
</file>