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75DB8-0966-A4AC-1083-F1D34D788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DD2F2E-9B04-07F1-384F-2E79C7F1F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BA3430-7FBC-446E-2763-136783BB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97BBA-2365-DB0B-320F-68E0E452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180436-4E56-B221-22B3-B1B8D782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3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BECE5-0E56-1E2D-84E8-63618FD9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0D6C1-DD2B-6ED6-E3F6-08A58615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16D33-BC1E-F65A-29AE-CD85DE95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DEF55-3D70-44C4-B1C4-0C6F5343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5D4F2-74C4-1D46-840A-DFA3711B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7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062B1-03EB-C2B3-95C4-463808AA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86E18D-8071-2D79-7E30-E12BE2B45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82D78D-DF48-10B7-7D5B-0CB9DF2C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8E89D-3DFF-9D98-685D-2CC40E91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994317-DB70-01DD-433C-5E728CAE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6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93B4C-A691-FC2E-41C6-34324F77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5FECB-BFBC-5087-4728-467B29EFF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95A184-296A-F8C6-BD47-F8AFBDC92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16C53A-102E-A5A2-926A-3F3FA1F7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2BD116-9C4E-2CA8-3DD2-D4620841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ED3872-EE2E-50F7-0C09-BE673A76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67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C3F15-FD74-647D-B8C8-8C415052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2CB672-AD01-569C-7380-759A8536D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5F5B8B-53D9-D041-005A-5EBBE95BB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0B9969-A766-1304-B469-0D909F863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0F9804-8D61-7391-5308-8D8844E1B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5ACCCC-C036-B2D4-1377-A5B9F96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7D8152-7CAC-F2ED-4331-2D023702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1F0E29-19CC-4696-7103-25E24D1C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4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CD93D-D285-6E35-93EA-DC5E8BD4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D7346B-A5B4-39AD-06CF-3A765455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603161-9AB1-DDE5-148B-A1A10216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DEE324-9AEA-8E4E-BE5C-E8B850DA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2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43228C-1885-DD61-E0D7-81E44E97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C4B773-956E-1F6C-DCC3-C05C9A81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8B5C73-502B-7375-46A0-B5EC4D33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58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30A2D-FED1-5251-8B26-D9C05542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BB214-C272-6726-21A5-4C514F82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75236F-B49E-74B0-80AF-53B2F1FB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448058-64DE-5391-E2DA-4CB4B419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31A88E-EB90-8CBB-179D-A9316326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5AA1A-7862-24C8-B328-19392C27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77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AE2D8-5546-CA60-4ED4-B9FEA935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96EB1F-A3A3-176A-EF66-398DC9482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E537D0-EC0E-20DD-35D7-B72661520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6CC139-3E37-E10A-F9C5-76B61C4A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AA191-D1E5-A188-955F-CF6A495C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6BF874-E3C2-8C70-A0B1-D66D7208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ACF88-CC94-7F90-ED5D-563D2A74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9B066C-05BC-B084-197F-D7D22CE18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97E6D5-D91C-A43F-8DA8-F5768591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90057E-EE0D-3338-6B08-1001131E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60CE8-0FC7-9BCD-9B10-E98402AB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15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16C441-EB47-6300-6605-9A342FAD1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7E8B8F-FE3C-2CE9-BF65-182B5FD80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85EB96-A63C-995E-5E72-AF26686C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FC107-97FC-FF33-4B16-41BB702E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5D6DF8-C6F6-3433-A7E8-32A432C6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76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98EC68-538A-9D4F-4E0F-E69156B9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212E27-5D0A-A236-5347-75934F82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7096D-D9B0-A597-93E9-F6899D61C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59FAD-1C66-4E84-919A-7CB0BD6C62D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15622-78A5-58C9-AC42-0AFD4DBB4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0D498-85B7-92AB-B712-3B4A7BE9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7886F-68D6-48CA-9378-08780D2A0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7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54025AB-3878-FFA4-381C-B7423C6F66C1}"/>
              </a:ext>
            </a:extLst>
          </p:cNvPr>
          <p:cNvSpPr/>
          <p:nvPr/>
        </p:nvSpPr>
        <p:spPr>
          <a:xfrm>
            <a:off x="9423400" y="-889000"/>
            <a:ext cx="3784600" cy="3784600"/>
          </a:xfrm>
          <a:prstGeom prst="ellipse">
            <a:avLst/>
          </a:prstGeom>
          <a:solidFill>
            <a:srgbClr val="356CF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E7FE95-226A-8B00-5F81-6421CFCAF4AE}"/>
              </a:ext>
            </a:extLst>
          </p:cNvPr>
          <p:cNvSpPr/>
          <p:nvPr/>
        </p:nvSpPr>
        <p:spPr>
          <a:xfrm>
            <a:off x="10033000" y="406400"/>
            <a:ext cx="2286000" cy="2286000"/>
          </a:xfrm>
          <a:prstGeom prst="ellipse">
            <a:avLst/>
          </a:prstGeom>
          <a:solidFill>
            <a:srgbClr val="35BFA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11579A6-F3B7-0C8F-D4E9-E51349BB2F5F}"/>
              </a:ext>
            </a:extLst>
          </p:cNvPr>
          <p:cNvSpPr/>
          <p:nvPr/>
        </p:nvSpPr>
        <p:spPr>
          <a:xfrm>
            <a:off x="10363200" y="889000"/>
            <a:ext cx="1422400" cy="1422400"/>
          </a:xfrm>
          <a:prstGeom prst="ellipse">
            <a:avLst/>
          </a:prstGeom>
          <a:solidFill>
            <a:srgbClr val="0D1B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AB1FBDA-C710-1A7C-D816-3CB63C4A6F39}"/>
              </a:ext>
            </a:extLst>
          </p:cNvPr>
          <p:cNvCxnSpPr/>
          <p:nvPr/>
        </p:nvCxnSpPr>
        <p:spPr>
          <a:xfrm>
            <a:off x="9017000" y="1117600"/>
            <a:ext cx="2286000" cy="0"/>
          </a:xfrm>
          <a:prstGeom prst="line">
            <a:avLst/>
          </a:prstGeom>
          <a:ln w="381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CF735D9-B60D-AE2B-A209-5B305ED38892}"/>
              </a:ext>
            </a:extLst>
          </p:cNvPr>
          <p:cNvSpPr txBox="1"/>
          <p:nvPr/>
        </p:nvSpPr>
        <p:spPr>
          <a:xfrm>
            <a:off x="685800" y="612661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100" b="1">
                <a:solidFill>
                  <a:srgbClr val="35BFA0"/>
                </a:solidFill>
                <a:latin typeface="Microsoft YaHei" panose="020B0503020204020204" pitchFamily="34" charset="-122"/>
              </a:rPr>
              <a:t>INKTRACE  V2.0</a:t>
            </a:r>
            <a:endParaRPr lang="zh-CN" altLang="en-US" sz="11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83C923-B419-A5EA-8609-1447A98E0B8C}"/>
              </a:ext>
            </a:extLst>
          </p:cNvPr>
          <p:cNvSpPr txBox="1"/>
          <p:nvPr/>
        </p:nvSpPr>
        <p:spPr>
          <a:xfrm>
            <a:off x="685800" y="1201866"/>
            <a:ext cx="5334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200" b="1">
                <a:solidFill>
                  <a:srgbClr val="AAB7C7"/>
                </a:solidFill>
                <a:latin typeface="Microsoft YaHei" panose="020B0503020204020204" pitchFamily="34" charset="-122"/>
              </a:rPr>
              <a:t>给第一次写小说的你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91354C-92C9-8623-0A59-C8864B394887}"/>
              </a:ext>
            </a:extLst>
          </p:cNvPr>
          <p:cNvSpPr txBox="1"/>
          <p:nvPr/>
        </p:nvSpPr>
        <p:spPr>
          <a:xfrm>
            <a:off x="685800" y="1727200"/>
            <a:ext cx="8128000" cy="150297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4800" b="1">
                <a:solidFill>
                  <a:srgbClr val="FFFFFF"/>
                </a:solidFill>
                <a:latin typeface="Microsoft YaHei" panose="020B0503020204020204" pitchFamily="34" charset="-122"/>
              </a:rPr>
              <a:t>小白写手
完整操作指南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2A24EA-6979-26D2-906A-3A3B3F2FEFA5}"/>
              </a:ext>
            </a:extLst>
          </p:cNvPr>
          <p:cNvSpPr txBox="1"/>
          <p:nvPr/>
        </p:nvSpPr>
        <p:spPr>
          <a:xfrm>
            <a:off x="711200" y="3853106"/>
            <a:ext cx="8890000" cy="3180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900">
                <a:solidFill>
                  <a:srgbClr val="CBD5E1"/>
                </a:solidFill>
                <a:latin typeface="Microsoft YaHei" panose="020B0503020204020204" pitchFamily="34" charset="-122"/>
              </a:rPr>
              <a:t>从第一次配置，到安全采用每一份候选新稿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BA9B83-D692-2538-1697-EBEBCC31B7CE}"/>
              </a:ext>
            </a:extLst>
          </p:cNvPr>
          <p:cNvCxnSpPr/>
          <p:nvPr/>
        </p:nvCxnSpPr>
        <p:spPr>
          <a:xfrm>
            <a:off x="711200" y="4749800"/>
            <a:ext cx="1498600" cy="0"/>
          </a:xfrm>
          <a:prstGeom prst="line">
            <a:avLst/>
          </a:prstGeom>
          <a:ln w="508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9382809-2149-FE1B-9052-F38EA279156D}"/>
              </a:ext>
            </a:extLst>
          </p:cNvPr>
          <p:cNvSpPr txBox="1"/>
          <p:nvPr/>
        </p:nvSpPr>
        <p:spPr>
          <a:xfrm>
            <a:off x="711200" y="5003800"/>
            <a:ext cx="9652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</a:rPr>
              <a:t>你始终是作者。</a:t>
            </a:r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</a:rPr>
              <a:t>只准备候选方案，正文、方向、计划和故事记忆都由你确认。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BD5837-B149-46E9-F424-85FB77D25190}"/>
              </a:ext>
            </a:extLst>
          </p:cNvPr>
          <p:cNvSpPr txBox="1"/>
          <p:nvPr/>
        </p:nvSpPr>
        <p:spPr>
          <a:xfrm>
            <a:off x="10871200" y="6343050"/>
            <a:ext cx="711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AAB7C7"/>
                </a:solidFill>
                <a:latin typeface="Microsoft YaHei" panose="020B0503020204020204" pitchFamily="34" charset="-122"/>
              </a:rPr>
              <a:t>01 / 36</a:t>
            </a:r>
            <a:endParaRPr lang="zh-CN" altLang="en-US" sz="9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70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08984E-1D39-AEF9-0D05-1D549FCC6D2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FB19B7-63A7-0A2A-D6FF-B9EF022930BA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01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BA360A-0518-35C3-0303-4B7C9CBE4202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先用一句话理解 </a:t>
            </a:r>
            <a:r>
              <a:rPr lang="en-US" altLang="zh-CN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InkTrace</a:t>
            </a:r>
            <a:endParaRPr lang="zh-CN" altLang="en-US" sz="28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2F6568-5DBF-74F0-824D-E5BE279894BE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04D876-22DD-94A8-6CB0-E065F9BD50CD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67038-F140-32B9-11C4-CC74995B68D2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FFDB78-4B9A-C7F8-AA62-07000F40211B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4E18F1C-578F-BB98-9B4A-D4682CE521B1}"/>
              </a:ext>
            </a:extLst>
          </p:cNvPr>
          <p:cNvSpPr txBox="1"/>
          <p:nvPr/>
        </p:nvSpPr>
        <p:spPr>
          <a:xfrm>
            <a:off x="1727200" y="19431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你负责决定故事；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InkTrace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负责整理资料和准备候选方案。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809E36-1A9F-0899-0A9E-300D19E4C373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5C90F65-64F1-A289-39CA-FC311DE942AA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60CC1-DF5E-6F99-9B4C-6A269437F7E6}"/>
              </a:ext>
            </a:extLst>
          </p:cNvPr>
          <p:cNvSpPr txBox="1"/>
          <p:nvPr/>
        </p:nvSpPr>
        <p:spPr>
          <a:xfrm>
            <a:off x="1727200" y="29845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写完以后先进入候选稿区，不会直接修改正式正文。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0A2D89-756D-8665-EBB7-EDDF8D9D8C44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887DBAD-BF73-9B73-F553-ECA379E07E5C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807A700-1F0D-797D-2E63-BB6A8B11DE00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方向、计划、候选稿和故事记忆，需要分别确认。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123A39-0BB7-9826-1496-D0A0A4128530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BD055E3-F094-DCDC-26AD-5715F7655F95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15B4888-437C-B9BA-9104-60D297C94484}"/>
              </a:ext>
            </a:extLst>
          </p:cNvPr>
          <p:cNvSpPr txBox="1"/>
          <p:nvPr/>
        </p:nvSpPr>
        <p:spPr>
          <a:xfrm>
            <a:off x="7289800" y="19431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预算、分析和风格数据只帮助判断，不替你评价作品。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373B9B-85C0-D2AC-3E96-05511DAB5B71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ADDC901-84AA-1747-561B-DDCB576652F7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CAFCCE5-E6DC-386E-3A06-C49C97382A1F}"/>
              </a:ext>
            </a:extLst>
          </p:cNvPr>
          <p:cNvSpPr txBox="1"/>
          <p:nvPr/>
        </p:nvSpPr>
        <p:spPr>
          <a:xfrm>
            <a:off x="7289800" y="29845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遇到阻断冲突或费用不明时，系统会先停下等你处理。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A977A10-D3E8-3B81-2B7E-AC45AB2CAF28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D271E33-103E-15ED-92A5-BD2E0D888024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DE97258-EB22-E2E7-AC88-1CB08174FCFC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只要记住“先看、再改、再确认”，就不会把 </a:t>
            </a:r>
            <a:r>
              <a:rPr lang="en-US" altLang="zh-CN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建议误当成正式正文。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F816434-24C3-C057-892F-314CCA459D3F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F2DDE04-5A70-D954-43E6-0B99B357F52D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6DE7D99-AF7D-8C66-DE8D-A58619281017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86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46BA0E-9E17-B66F-EE08-3E74B17C18C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688E93-CA15-5AC0-4202-5225F10A19E8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01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E2988E-4249-BDDD-3E4E-1F8B14BE06E2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六条安全底线，任何时候都不变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37F7E2-57E9-758D-A583-447FE01FC4BD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54F81C-6FAA-DAA8-C501-AB6E79F757DA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F38DD4-1A7E-E5B6-C1E9-CAB30E7061ED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4EAA12-A8C4-B1D5-23BD-D065979A0808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不会自动做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514C7AC-256B-4B00-D50D-E7496FC951A2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0387AC45-3CB3-3BE6-4FAA-23BF279C96C1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A16900-AB9F-1F59-9520-028726CE5663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不会自动写正式正文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A6914F-384B-D1A3-FE9A-F324CC18F5EF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5B3746-D37F-E19F-AD72-53FCEA90AA12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不会自动选择方向或计划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2E9ACC2-6DB4-3924-E5D4-3EAF0265E8C8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4CE21C-C8A1-445C-5EEA-4B212E086A9F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不会自动更新故事记忆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A6FEFFD-D9A2-862B-8727-5E1E643784DB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BE398ED-9ADD-FC2B-DC59-C75C28904F15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352D7D-DF30-A6A9-BD48-DA6F14702A34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需要作者做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5557EBF-216D-E7A3-CB35-2FBCEF1692A7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F0ECF386-753F-31BF-ADEE-325562FC8E99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58BD13-F112-EE3D-996C-7B3301EC1561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亲自接受和应用候选稿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D310293-C7E9-8D16-A500-EAFC4288424C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7D140D-97EB-CF41-134A-C76583356ECB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处理阻断冲突和预算问题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594B6E2-DBEE-EAE4-8048-861C91175FDA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02EE8B-7936-30F3-ECC3-ED35DAE10ABA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明确继续、暂停或放弃任务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06EC214-337C-EAB7-A998-69DAAB9E7A00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C023962-4DDE-2B19-0921-E327AA30C694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6B584C-5450-744D-F659-18F41E7D48FB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关闭写作助手不会删除正文、候选稿或资料。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12E691-C97E-7BA8-7D12-7905F22FE64B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7592289-4ED8-99DA-4A8F-0F94A0659C78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279B53B-6F98-CDD6-95FF-A35C25F41F02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231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936BE3-EC6E-0BED-46D4-C5F57DD8306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0DF5A6-5134-6C6F-5D33-53CDC3B46221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01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232A9D-DA99-7667-565D-7FFE38930589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先认识四个最常见的词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A3B56F-9903-9D07-276D-20A0C3EFE0D9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AAABD6-E894-D4C5-F98F-6F6C15779A12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C05C4A-D3B4-781C-C3B7-1FAA041ABB15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219525-9623-B7B8-E793-BAB5BC9FDC43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正文与候选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F13D50-99AB-CE82-C352-1FFB49585551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3A7A9F62-549B-4B34-EC9A-7495359D6BAA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848CB0-CB8E-6090-B081-C67A5DD30CD2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正式正文：你真正保存的小说内容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12CCDCF-8A41-2A8B-D6CA-DE766CF9E212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3C0847-034A-C3FF-AAF4-FF85E149DA5A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候选稿：等待你审阅的新稿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3AB2A3-FC1B-FD54-8556-E58EC744E639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D572CF-6D05-57AA-480C-E4FF84431BE2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候选版本：同一稿件的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v1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v2</a:t>
            </a:r>
            <a:endParaRPr lang="zh-CN" altLang="en-US" sz="145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76F0D93-2DB3-AF11-74DB-C0D5B0F14B81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1265AC-A9B6-002B-C748-D36F3DBDF752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BD4ADB3-B7EF-8F15-E289-8EB9E75A4E03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资料与上下文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22E63D0-E95C-B43F-EE41-056AD4D22A70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60A0CFF5-60CC-AAEC-BCAF-010649C84928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8FEB27-E0DE-CFC7-C192-0477D3E7F44B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写作资料：大纲、人物、时间线、伏笔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C424CEF-4418-BE0E-2C9C-6EE526B65ED1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E588A6-A9C8-3076-55C4-970134A4DF66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写作上下文：本次任务的必要资料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06E7054-6923-07B4-8744-A46654A1BF25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122CE88-8526-0E9F-89E2-BE81332CF152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故事记忆：保持长篇连续性的正式资料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B2B9EED-7524-BD62-2B66-AC2D403762A8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68B4D97-CE11-9B88-E177-B92692305630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CADFB63-2BA5-9C5A-935E-81FDCAC96A0A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候选稿生成成功，只表示“有一份稿可以看”。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4CBFE3-4E7C-5C0E-8923-D4D720FFEE94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先认识它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CF871A8-804D-98EC-010C-3E2DA76493CD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509455A-BE29-A29B-9661-00DFCA19CF36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5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3BB313-C6AB-131F-5727-179837FAAB6C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19DBC-FA9C-1560-2EFC-61624B12ADA4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第一次使用，按五步完成准备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E0800E-2872-F49A-08A2-396D776EBF95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2FB6F4-6784-B5AA-A1AC-F8124FC28D73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0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6CF75C4-A1FC-C68E-2B5A-2B57B420728E}"/>
              </a:ext>
            </a:extLst>
          </p:cNvPr>
          <p:cNvCxnSpPr/>
          <p:nvPr/>
        </p:nvCxnSpPr>
        <p:spPr>
          <a:xfrm>
            <a:off x="1143000" y="3200400"/>
            <a:ext cx="9906000" cy="0"/>
          </a:xfrm>
          <a:prstGeom prst="line">
            <a:avLst/>
          </a:prstGeom>
          <a:ln w="25400">
            <a:solidFill>
              <a:srgbClr val="5264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8DE6EDE0-B9EA-4FB5-F01E-EF478BFC2F9F}"/>
              </a:ext>
            </a:extLst>
          </p:cNvPr>
          <p:cNvSpPr/>
          <p:nvPr/>
        </p:nvSpPr>
        <p:spPr>
          <a:xfrm>
            <a:off x="143256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9DC0BA-36D5-E9BB-E92A-D0DA968FC3C0}"/>
              </a:ext>
            </a:extLst>
          </p:cNvPr>
          <p:cNvSpPr txBox="1"/>
          <p:nvPr/>
        </p:nvSpPr>
        <p:spPr>
          <a:xfrm>
            <a:off x="143256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43C5E98-3E7D-E738-9CAA-A9C8A8591844}"/>
              </a:ext>
            </a:extLst>
          </p:cNvPr>
          <p:cNvCxnSpPr/>
          <p:nvPr/>
        </p:nvCxnSpPr>
        <p:spPr>
          <a:xfrm>
            <a:off x="1737360" y="2717800"/>
            <a:ext cx="0" cy="17780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CEF39BA-95B7-DF5A-24BC-C61765BAE35B}"/>
              </a:ext>
            </a:extLst>
          </p:cNvPr>
          <p:cNvSpPr txBox="1"/>
          <p:nvPr/>
        </p:nvSpPr>
        <p:spPr>
          <a:xfrm>
            <a:off x="787400" y="2057400"/>
            <a:ext cx="189992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创建或导入作品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F118290-CA20-4749-D7F4-D1D956FF867A}"/>
              </a:ext>
            </a:extLst>
          </p:cNvPr>
          <p:cNvSpPr/>
          <p:nvPr/>
        </p:nvSpPr>
        <p:spPr>
          <a:xfrm>
            <a:off x="361188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BD2895-3F72-E64F-06F4-A1F55F8969C7}"/>
              </a:ext>
            </a:extLst>
          </p:cNvPr>
          <p:cNvSpPr txBox="1"/>
          <p:nvPr/>
        </p:nvSpPr>
        <p:spPr>
          <a:xfrm>
            <a:off x="361188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FC3FF9C-5BB5-A164-4863-8758E385F438}"/>
              </a:ext>
            </a:extLst>
          </p:cNvPr>
          <p:cNvCxnSpPr/>
          <p:nvPr/>
        </p:nvCxnSpPr>
        <p:spPr>
          <a:xfrm>
            <a:off x="3916680" y="3505200"/>
            <a:ext cx="0" cy="27940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2213FAE-D207-AB54-1F8F-725B7A0D03CC}"/>
              </a:ext>
            </a:extLst>
          </p:cNvPr>
          <p:cNvSpPr txBox="1"/>
          <p:nvPr/>
        </p:nvSpPr>
        <p:spPr>
          <a:xfrm>
            <a:off x="2966720" y="3784600"/>
            <a:ext cx="189992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配置模型并测试连接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AE9C980-F351-35EC-7B27-15C55B6482AF}"/>
              </a:ext>
            </a:extLst>
          </p:cNvPr>
          <p:cNvSpPr/>
          <p:nvPr/>
        </p:nvSpPr>
        <p:spPr>
          <a:xfrm>
            <a:off x="579120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1E7C0A-1BAE-660A-1E57-2E6B9A1DA819}"/>
              </a:ext>
            </a:extLst>
          </p:cNvPr>
          <p:cNvSpPr txBox="1"/>
          <p:nvPr/>
        </p:nvSpPr>
        <p:spPr>
          <a:xfrm>
            <a:off x="579120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D3512F1-FC32-4BF7-92CA-FD29D0B3CA52}"/>
              </a:ext>
            </a:extLst>
          </p:cNvPr>
          <p:cNvCxnSpPr/>
          <p:nvPr/>
        </p:nvCxnSpPr>
        <p:spPr>
          <a:xfrm>
            <a:off x="6096000" y="2717800"/>
            <a:ext cx="0" cy="17780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5CC21C7-C794-DCE0-4B26-64FD84D777FB}"/>
              </a:ext>
            </a:extLst>
          </p:cNvPr>
          <p:cNvSpPr txBox="1"/>
          <p:nvPr/>
        </p:nvSpPr>
        <p:spPr>
          <a:xfrm>
            <a:off x="5146040" y="2057400"/>
            <a:ext cx="189992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打开写作助手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A7F69E1-599C-B551-3ED5-84FC2CE1915F}"/>
              </a:ext>
            </a:extLst>
          </p:cNvPr>
          <p:cNvSpPr/>
          <p:nvPr/>
        </p:nvSpPr>
        <p:spPr>
          <a:xfrm>
            <a:off x="797052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4884D4-E438-DA08-91EA-7F52B909EC92}"/>
              </a:ext>
            </a:extLst>
          </p:cNvPr>
          <p:cNvSpPr txBox="1"/>
          <p:nvPr/>
        </p:nvSpPr>
        <p:spPr>
          <a:xfrm>
            <a:off x="797052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AACA8B4-340E-6917-A9DB-33A42E65D431}"/>
              </a:ext>
            </a:extLst>
          </p:cNvPr>
          <p:cNvCxnSpPr/>
          <p:nvPr/>
        </p:nvCxnSpPr>
        <p:spPr>
          <a:xfrm>
            <a:off x="8275320" y="3505200"/>
            <a:ext cx="0" cy="27940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0785386-21C5-1094-3E7F-EFCD3B71D854}"/>
              </a:ext>
            </a:extLst>
          </p:cNvPr>
          <p:cNvSpPr txBox="1"/>
          <p:nvPr/>
        </p:nvSpPr>
        <p:spPr>
          <a:xfrm>
            <a:off x="7325360" y="3784600"/>
            <a:ext cx="189992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设置预算保护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BECBF3C-39F7-CF11-3E40-ABDB4754DF97}"/>
              </a:ext>
            </a:extLst>
          </p:cNvPr>
          <p:cNvSpPr/>
          <p:nvPr/>
        </p:nvSpPr>
        <p:spPr>
          <a:xfrm>
            <a:off x="10149840" y="2895600"/>
            <a:ext cx="609600" cy="6096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63CA7E9-BAB4-8455-5231-94C73D83DB1B}"/>
              </a:ext>
            </a:extLst>
          </p:cNvPr>
          <p:cNvSpPr txBox="1"/>
          <p:nvPr/>
        </p:nvSpPr>
        <p:spPr>
          <a:xfrm>
            <a:off x="1014984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FAA3EF0-AD71-D25B-FC63-C23D819BFA06}"/>
              </a:ext>
            </a:extLst>
          </p:cNvPr>
          <p:cNvCxnSpPr/>
          <p:nvPr/>
        </p:nvCxnSpPr>
        <p:spPr>
          <a:xfrm>
            <a:off x="10454640" y="2717800"/>
            <a:ext cx="0" cy="17780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2D4AAEC-7129-16EB-D032-DFB3EAAE2261}"/>
              </a:ext>
            </a:extLst>
          </p:cNvPr>
          <p:cNvSpPr txBox="1"/>
          <p:nvPr/>
        </p:nvSpPr>
        <p:spPr>
          <a:xfrm>
            <a:off x="9504680" y="2057400"/>
            <a:ext cx="189992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只生成一章试跑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A47AD30-19C9-9B54-4A6F-0D9AD843D486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9582B05-B879-308E-6211-5FF681EC23C1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4CD8C1-1976-3480-5633-695839F19807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记住  第一次不要直接运行很多章。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A32570-C386-A8A7-8A29-9EFF5B6ED591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AAB7C7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AAB7C7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135BD2D-1A59-999A-003C-C837C8E28CBC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493F387-8F27-DDCC-A00D-D596B855B8E5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AAB7C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891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1F283A-57A1-C046-4D02-C052CDB1F5C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7EE8C7-8E77-3E1B-7B68-7C451EC43880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0CFB0D-1F0B-8DDC-019E-B72CEC3C47FD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新建和导入后，都要先检查作品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39E810-6640-58C7-3B13-0A68439F54B5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17F0C8-7332-D336-7237-ADD90E8CEE0F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41F834-8836-143E-537A-DB47B0F94614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39C15F-09F7-653F-40A9-94FA64B82FB7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新建空白作品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FA27B02-0BC3-E6F8-2488-6F321E39E286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CA98C77D-C7D8-1CD4-4411-91DEE9054B72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DD2E0-E904-DC5B-E1B2-33A1264C8D3D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在书架选择新建作品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A3F6122-B86C-82FB-575D-2869C14342B8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EE4878-8FE4-C3D1-EE62-04442816CFF7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创建第一章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73300E-89C9-0AC1-9279-8008F083EE4C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95BD4E-CB41-2826-E7C3-CCCEC538575B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先写一小段并确认保存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A27C75A-BE02-EF63-149E-B8B3EE08EAF7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FCA9A0A-84FC-525C-5D89-9E46A50D36A8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F54A68-7C97-CA81-DBD0-74E267525F4A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导入已有 </a:t>
            </a:r>
            <a:r>
              <a:rPr lang="en-US" altLang="zh-CN" b="1">
                <a:solidFill>
                  <a:srgbClr val="172033"/>
                </a:solidFill>
                <a:latin typeface="Microsoft YaHei" panose="020B0503020204020204" pitchFamily="34" charset="-122"/>
              </a:rPr>
              <a:t>TXT</a:t>
            </a:r>
            <a:endParaRPr lang="zh-CN" altLang="en-US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009931-4C44-46AC-7714-61FFE6251CE1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2F26874C-8A2D-0C35-04D9-AFB580A60E01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44BD26-5F78-F7A0-4AB9-A2F39BF654A3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导入前备份并整理章节标题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AEDA5F9-4507-6911-F520-6CDBCEFB6BA8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D355CA-E2DD-FD05-2057-742810E736C1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抽查首章、中间章和末章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94DA5A2-38BF-6C1E-C64E-9AE230ECB889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B95C73-0A9D-554A-CA36-C5EA61168603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检查乱码、漏章和顺序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ED89A37-54CF-F2B9-EC30-9D9F2EB737CF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CA1E81F-89D0-7ED1-56D7-91857E0ACBC1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903EAEE-B947-17D3-0AA4-6310B99675E9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拆章有问题时先修复，不要马上初始化。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37A11F-CA51-92EF-315C-E03617A11E5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8A09232-B962-DB80-3C11-53287845FF53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75140EA-6CD5-13F4-7C71-3E91F614E4F2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9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B3541F-0B7D-C2C0-C6A9-CCA9A2471B3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A6ACE8-8863-2EA0-1AC9-7C5A00118640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A66ED4-FABA-3779-2300-14C01CC8DA3F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模型配置只需按顺序完成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60182-CE00-26F5-952D-005C82803636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3E2B3D-0692-E5A3-A277-093AEB7913A7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EFDE7D-0288-8489-0355-90C530FC9C55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983C659-67FA-7126-584C-1D95CCC4C52A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C4F9BD0-5760-C9AB-CDF7-7798D4969FDB}"/>
              </a:ext>
            </a:extLst>
          </p:cNvPr>
          <p:cNvSpPr txBox="1"/>
          <p:nvPr/>
        </p:nvSpPr>
        <p:spPr>
          <a:xfrm>
            <a:off x="1727200" y="19431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进入“设置中心 →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设置”，添加或选择模型服务。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B2DFC1-618A-1EF7-19BE-31C123F63F4B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6FD3E7C-ED1D-5537-ECD8-3C2066B27D12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A6297FE-8313-0256-A40D-0485F047D07A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填写默认模型、服务密钥，以及服务要求的地址。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2EA880-6EF3-53D3-269B-A3994C2F4D3D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210CB9-9C4F-D6FF-8DDC-8DA17AEF8868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8CB1E12-E845-7CC3-A6DC-EB5771A2666B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点击“测试连接”；成功后再配置任务模型。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6F420C-F2B6-CB54-EC29-270FF923CBBF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67846C9-2405-7BD3-8C76-E802EE09FB52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7CE7041-ECFC-3F0B-C192-7D96E1209B63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为分析、规划、写作、审阅和重写任务选择模型。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ECDC29F-4681-1792-2414-67E9FCAE565E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7DBDAE5-B9DE-D79B-CBBE-32175DB9F0D1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589D04D-140C-CD3A-0B37-3AAFC7D83502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确认分析和写作任务可用，最后保存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配置。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F89888-BCC6-F977-5F93-FDF0EB3D9FD7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CF135B1-8F81-D0F8-6AA0-65548E739465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B77F5B0-D9BF-3B1F-6114-821B1080635E}"/>
              </a:ext>
            </a:extLst>
          </p:cNvPr>
          <p:cNvSpPr txBox="1"/>
          <p:nvPr/>
        </p:nvSpPr>
        <p:spPr>
          <a:xfrm>
            <a:off x="7289800" y="40259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失败时检查密钥、模型名称、地址、账户权限和网络。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E81D599-DEFD-B3C9-6DAD-9C595439C1F4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90A9E38-07A7-06FB-2FB7-41C29425E258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DDEA21-811E-E435-80AD-693BB3A70CF1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模型密钥只填在设置页。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0C17E7-9564-AB93-C17F-D788A637DC4B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60B9DC2-7698-B256-C688-0AD452564ADE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675AA2D-924C-CF33-3E2F-72A86479E469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7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FF5F47-DB01-9104-89D8-7C80FF3A749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8C2163-9413-B3B0-5F5A-AA4CBAFFC91E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D6A776-F285-61C3-18E7-3A57B0AC2939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写作助手可以在设置中心直接开关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7F1DBB-CE18-4B4A-EEC2-9A38514A9E66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312A3A-A0E7-7151-C3CD-32406E283FE3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FFA0AB-8007-0B86-3846-F34D9F4ABADB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24FF24-5E53-4F85-06E1-F147DFEDF38D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新手先打开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971B081-C045-1F3F-582B-B3EF1E4C78CB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C4657065-20DE-66ED-57D7-CD9B16DA5031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FBB308-D045-FDBA-921B-0AEC3F482FAE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接着写、选区改写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FA3C7BA-2238-579B-71D4-9908191423A3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025FA3-9AAD-FEC4-71ED-160DB008D031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大纲辅助、引用来源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92645A6-BF7A-7425-629C-61DEEBD0630D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943796-16CA-335A-1E9A-1990C98ECE81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用量与预算、创作分析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94CD219-8006-08CB-8ABB-58FE9471C4DF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7DE4A5-B7DC-7666-5553-DA209891B71A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A12A22-FF42-87DE-7484-25FCC425F12E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熟悉后再打开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3FBFD9A-0378-1AC8-3759-A78F99BAD112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90893D46-6059-F820-672D-D09496B39BFE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6BE78D-0A8D-966D-FB5A-3C179356A307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多章续写和自动续写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096F432-7A26-D3F1-5DE9-A4036D93AF2C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71C94F-232F-9EA6-B631-0BFACE1F6DA5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@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引用和风格画像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175B905-DA0B-3D6E-32A5-4165CB938053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2B7454-EA36-4E0A-8905-E1247BF594BD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开篇助手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4171371-BC10-C7E5-A920-A76A12C24438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FF0BC74-32F0-2C35-9FFA-0AA5C40445A7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81B07E3-2720-B66A-A969-3640F9592677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开关不会绕过确认，也不会删除历史数据。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95067B5-6A33-4D98-3DC0-2A75826C2A33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E34EE1E-A594-5974-4481-DABC8111E12F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C76F3BA-3463-9F0D-7C5C-96BDC92AB338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547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09ECC8-F399-1345-069C-EEB151C2F0F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C39730-56FF-6B74-3CB3-D0D0DB9A62CB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24472B-DEDC-25E4-D6D3-95337F7F266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写作台按“章节</a:t>
            </a:r>
            <a:r>
              <a:rPr lang="en-US" altLang="zh-CN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正文</a:t>
            </a:r>
            <a:r>
              <a:rPr lang="en-US" altLang="zh-CN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辅助”理解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858474-4714-6CB7-A9CA-470C53655CCD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3C75AC-F180-02C9-FD12-05C602B11139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9051D1-E925-9607-5FF8-8491233D355C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80552E-11E0-0390-46E3-BC42BE46350E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左侧和中间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AECEA6A-12D7-6136-8C09-CE9B773289D3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705C1070-31DD-F419-1BC4-66582CA41582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8B16E1-0550-EB0D-F7BD-F830AEEF31D8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左侧选择和管理章节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4C4DC3-E746-D73D-FAED-A6A211B26901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2727F1-9720-09EF-9621-6A4DE6178F14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中间编辑正式正文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73F6620-937C-C91E-83BE-9B99EEE5C679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E7AAFC-A52F-25DC-4435-E06393CFBE04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启动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前先确认选对章节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4E25994-ABAD-18A5-EA6C-1727DD841A15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A6438F2-9809-6B7B-5452-F610FCF029AB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36631A-C35B-06DD-2C71-E3AD8E782512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右侧工作区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DFB17E1-C741-6876-908C-0B7381F26D17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79E0BF78-81E9-F2A3-6619-AB81DBB701C6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F75F0A-9319-914A-7A9E-4E50F4C354DE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管理大纲、人物、时间线和伏笔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8D947CB-8997-A4B3-597B-4413A5392356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4D8F17-8082-C43D-32CA-9DD6318436AA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助手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3EB3D7A-F546-E463-EFBC-28593AAF75D4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8820B6-518B-E0DC-145D-BDB48AF9A526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集中处理候选稿、冲突和记忆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021922D-99E5-0B66-9E53-E7048D2C8B59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BAFEE43-2540-87F9-9869-307B71ED177B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E33D67-533E-95EC-39F9-30908E3287A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切换工具前，如有未保存修改，先保存或明确放弃。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BD36C43-74D9-65B4-41E3-5EE98AF375DF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363606F-7658-894E-BB6A-FB97868FB53B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68CC490-8208-EB1E-6943-07F902A81903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36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2823C7-08D8-07AB-0DB6-FEEBA7D0B94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0571BF-27BD-303C-65B0-16B0BB20F712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F537A1-5515-15AF-434D-979C1DCEC142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保存状态决定你下一步该做什么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92808F-84EE-9342-1DD3-568327E61098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96E33F-3ADE-4565-376A-DA78F47CC911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3ACE3B-C310-D6D0-C4DB-DFD19F8AD89D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53855B-5071-CAFC-644F-6A52663E08C2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可以继续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963FB7D-15AB-1813-3B22-B7812C00563A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45E621EE-37E0-9BB4-59BD-5BD416E3F28E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7BB8DD-EBB0-68DE-0356-9488952F2615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已保存：可以切章或关闭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58FCBE4-E1E8-D249-6DBA-DA739A1EB55B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56D12A-6DA4-8B77-8833-864BF23B9A66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保存中：等待几秒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C6B75A9-30AF-2496-9B42-04DD5494EE3A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48967A-E68B-218A-4F5B-336831C1DBA7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当前离线：恢复网络后确认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CB38C24-DCB9-99F8-6D57-F246DEFDDB0D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61E21B3-5E49-8729-FE89-3FB34367419E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5EFC69-3DC7-E9DA-F897-7EB6D6E889EC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必须处理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7ED1A6E-5801-F30D-FF92-A006D1C9392C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2379F6DC-1268-C1A2-068C-A21C1DFAB611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906051-75C4-F088-8F66-D58E9F260541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保存失败：按提示重试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DBC8F1B-16DC-9A32-28A7-8204AED0B71E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3F41BA-C132-7391-2BE2-05F257608E21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版本冲突：选择本地或服务器版本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B3FA8DE-64DB-BF5D-16AA-0216F9C82669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707E39-B86E-F35D-224F-4BD35404DA76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不确定时先复制重要内容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24F158-4749-D997-5D98-E7F7F37F3776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375A947-E4FD-1354-32CC-ED078ABB2253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F62CE-7600-A4E5-B568-ABBED24B7CAC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不要靠反复刷新解决冲突。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0D63D5-5C43-662A-5681-1CEC366E8D03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4AF1B09-5DA9-4AC3-AB01-B2F6266F7C5A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3832A11-B1F9-7EFF-F2B3-3B5E88A26A91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097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15A35C-BFE2-6B87-B65D-DAB4CA1C941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C2DC31-982A-55C7-43D7-26BA44DE240D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58FCD2-9613-8844-A519-C869933D2EF0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已有多章正文时，先做初始化分析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109A51-3DCC-B46F-DCBD-EEE49F92CDD3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3258E4-61CB-E2AA-15FF-F0A13CA8A070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63A7F-626E-4AD6-AA7C-AB5BD53B3654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195B36B-9D4D-18A6-F66E-73660994A6CC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EB0A5C5-3198-6F61-45E8-97F2F8EFA28D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打开作品和有效章节，进入右侧“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AI”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CE7287-AB2B-FE01-15DC-28CD398CEAE0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2F87688-BA80-421C-F927-EB24369D2C81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0F34FEF-1328-341D-8462-E8213C8405BB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确认使用前检查显示模型配置已完成。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A76B00-8577-72E7-C46E-9A4C378B0EDD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4A06378-78DD-FFA4-5EBA-3551D224242B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14745A9-E896-0C0D-513B-F2D8F9C0D3C1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在“初始化分析”点击“启动初始化”。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169410-D6E3-43F2-B0DD-0B648E494C6C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24C6F0-D240-D97F-3D36-C40A87437769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D20C848-EEB6-1921-8D74-F5344BCF9BD0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观察成功、空章节和失败章节数量。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67B2E2-E304-A46B-EBAE-AC847074D264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BFF49ED-25BF-8BCC-57A3-3F30970C4B1D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93B966A-701A-FE60-BFE9-57F1AB28E6DE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任务可以暂停、继续、取消；失败后可重试。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7E9CF3-52AD-D648-DD7A-EBD46D8B5F61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BFA0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BA8D180-F469-0536-9593-F792A107FE7A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8EFD58F-BE0E-C61C-2273-FF710196C082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空章节不是程序故障，失败章节才需要检查。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11D43A5-52CD-63C7-D876-1D7627DC973A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A3B42C-C3BA-DFFA-36DC-DA355873F003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5DCAA43-3C3F-670C-8DFB-69D54EC85E28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初始化不会生成或修改正式正文。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1005A2A-8789-A00B-29AE-C80A8C74EDF1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0F528CB-60DF-749D-FEF3-D8EE246270D5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3D6BAF8-66D4-514E-E34B-E3B48827A055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7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3029CC-A79D-8A31-D533-6F9DE6A31CF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9CA4C5-41C6-B195-165E-3179F05E657D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02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25778E-6F63-CE11-6D4B-B5FBC048ED39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续写前，先构建当前章节的写作上下文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B5C369-8248-4E92-B008-25BFDF690F10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C7A200-0B6D-3F77-1E97-1D1E8636B2A4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41771F-2C60-9EFC-24DC-87D7E1B995E1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77F8D7-0B6B-18A6-7963-2E08103822EE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显示可继续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AC720FD-D9FD-3194-C24F-5E95808CDA93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56FCBD59-6F04-C39A-2997-86486E1B2DEC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D99955-15FD-4211-6006-7963D6FDA780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前文和资料已整理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3CA728B-6B90-D488-87CB-AE9833D527DA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4138C9-8A75-687F-A631-872843100444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可以进入方向与计划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9513C7A-1C88-DCFC-8337-11B2D8D9D0A6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8ED6FF-07AB-72DE-EB61-D3F58D8B6C8B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仍要核对实际意图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FB03CAD-0A93-13A9-4443-BEC4BB540FEB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8728A08-B400-B989-FB12-11F7C0D72CD0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91B123-2305-DDFF-A83C-686F6CDC285E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受限或无法继续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3DA9DE6-3D19-2EBF-5249-1CBEEA272E13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79F3D136-5DE1-4093-15C7-FC38210A3797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190207-4C43-9FD1-270E-C4D2FBEDB121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补选章节、正文、大纲或人物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43C1302-9AD8-6A62-56E3-A28B9635E1CE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41477C-E7B7-0491-31FB-614ED973D8F6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确认计划，处理预算或冲突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61C2C48-3F93-68A3-21DB-1FD2F973EDB7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E7D8D0-3A40-923F-D99B-1E4BB3A7158C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处理后重新构建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C6F091D-1E48-B8CE-6C1A-F366535A540A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DF4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3EE348E-2161-8DF4-64C3-FE522C72C96D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566DD4-E43A-EF1A-F0F7-0C5D99AAAF8F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写作上下文是本次任务的资料包。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90251BF-E1CE-6DB1-8E91-1318BD63E2D5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第一次准备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6109598-5963-2CE5-E6DC-E13C9EB9E71E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2504DD7-1BB1-CDB7-A98D-0F3F523FC9EE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94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5B174D-BC57-7E8F-F88B-6F915E95A81B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1C42CD-7AC5-9CBD-3D24-2105184DD856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一章候选稿的完整流程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EB801D-2A19-4FFE-C11B-79050F7D354F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69AD8D-DD85-D7E4-AD19-9B8443D3E971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10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E542204-01DB-A42B-2A63-B8AC4DFA8420}"/>
              </a:ext>
            </a:extLst>
          </p:cNvPr>
          <p:cNvCxnSpPr/>
          <p:nvPr/>
        </p:nvCxnSpPr>
        <p:spPr>
          <a:xfrm>
            <a:off x="1143000" y="3200400"/>
            <a:ext cx="9906000" cy="0"/>
          </a:xfrm>
          <a:prstGeom prst="line">
            <a:avLst/>
          </a:prstGeom>
          <a:ln w="25400">
            <a:solidFill>
              <a:srgbClr val="5264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001611E5-D8CD-DB26-241B-87076EFB7E5A}"/>
              </a:ext>
            </a:extLst>
          </p:cNvPr>
          <p:cNvSpPr/>
          <p:nvPr/>
        </p:nvSpPr>
        <p:spPr>
          <a:xfrm>
            <a:off x="125095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8CDCA-01EE-C63D-A6CF-D3E483C19767}"/>
              </a:ext>
            </a:extLst>
          </p:cNvPr>
          <p:cNvSpPr txBox="1"/>
          <p:nvPr/>
        </p:nvSpPr>
        <p:spPr>
          <a:xfrm>
            <a:off x="12509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47148D9-546A-0391-2861-F499F63C28EB}"/>
              </a:ext>
            </a:extLst>
          </p:cNvPr>
          <p:cNvCxnSpPr/>
          <p:nvPr/>
        </p:nvCxnSpPr>
        <p:spPr>
          <a:xfrm>
            <a:off x="1555750" y="2717800"/>
            <a:ext cx="0" cy="1778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47A746D-B6C3-43BE-0238-D492F94DD57C}"/>
              </a:ext>
            </a:extLst>
          </p:cNvPr>
          <p:cNvSpPr txBox="1"/>
          <p:nvPr/>
        </p:nvSpPr>
        <p:spPr>
          <a:xfrm>
            <a:off x="787400" y="20574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构建上下文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A3EA88C-42FB-D36C-EBE8-CCBEEC589CED}"/>
              </a:ext>
            </a:extLst>
          </p:cNvPr>
          <p:cNvSpPr/>
          <p:nvPr/>
        </p:nvSpPr>
        <p:spPr>
          <a:xfrm>
            <a:off x="306705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497F10-204F-D9D2-8CE6-350673FDAAAB}"/>
              </a:ext>
            </a:extLst>
          </p:cNvPr>
          <p:cNvSpPr txBox="1"/>
          <p:nvPr/>
        </p:nvSpPr>
        <p:spPr>
          <a:xfrm>
            <a:off x="30670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7A3630C-54DB-021B-2837-78A248412A2C}"/>
              </a:ext>
            </a:extLst>
          </p:cNvPr>
          <p:cNvCxnSpPr/>
          <p:nvPr/>
        </p:nvCxnSpPr>
        <p:spPr>
          <a:xfrm>
            <a:off x="3371850" y="3505200"/>
            <a:ext cx="0" cy="2794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324DFEE-4647-FDFC-C69C-AF61765E76F9}"/>
              </a:ext>
            </a:extLst>
          </p:cNvPr>
          <p:cNvSpPr txBox="1"/>
          <p:nvPr/>
        </p:nvSpPr>
        <p:spPr>
          <a:xfrm>
            <a:off x="2603500" y="37846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选择方向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2541C3F-9986-08AF-4359-2440A2F8D6D2}"/>
              </a:ext>
            </a:extLst>
          </p:cNvPr>
          <p:cNvSpPr/>
          <p:nvPr/>
        </p:nvSpPr>
        <p:spPr>
          <a:xfrm>
            <a:off x="488315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439220-FA31-CB5A-34E6-10C1CBD98AEC}"/>
              </a:ext>
            </a:extLst>
          </p:cNvPr>
          <p:cNvSpPr txBox="1"/>
          <p:nvPr/>
        </p:nvSpPr>
        <p:spPr>
          <a:xfrm>
            <a:off x="48831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11DF465-E875-9121-A311-D68633B80812}"/>
              </a:ext>
            </a:extLst>
          </p:cNvPr>
          <p:cNvCxnSpPr/>
          <p:nvPr/>
        </p:nvCxnSpPr>
        <p:spPr>
          <a:xfrm>
            <a:off x="5187950" y="2717800"/>
            <a:ext cx="0" cy="1778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30E50E8-6EFE-0488-B26B-6998C5B70F02}"/>
              </a:ext>
            </a:extLst>
          </p:cNvPr>
          <p:cNvSpPr txBox="1"/>
          <p:nvPr/>
        </p:nvSpPr>
        <p:spPr>
          <a:xfrm>
            <a:off x="4419600" y="20574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确认计划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7C7E8E6-E91E-226D-32F2-FE96861EB43E}"/>
              </a:ext>
            </a:extLst>
          </p:cNvPr>
          <p:cNvSpPr/>
          <p:nvPr/>
        </p:nvSpPr>
        <p:spPr>
          <a:xfrm>
            <a:off x="669925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9570A5-109F-AE6F-E199-F351C8842521}"/>
              </a:ext>
            </a:extLst>
          </p:cNvPr>
          <p:cNvSpPr txBox="1"/>
          <p:nvPr/>
        </p:nvSpPr>
        <p:spPr>
          <a:xfrm>
            <a:off x="66992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72236FD-6ED0-19E2-B160-C77484001A83}"/>
              </a:ext>
            </a:extLst>
          </p:cNvPr>
          <p:cNvCxnSpPr/>
          <p:nvPr/>
        </p:nvCxnSpPr>
        <p:spPr>
          <a:xfrm>
            <a:off x="7004050" y="3505200"/>
            <a:ext cx="0" cy="2794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5E9CCA5-5B3E-9360-F170-ABD29CA7C7CB}"/>
              </a:ext>
            </a:extLst>
          </p:cNvPr>
          <p:cNvSpPr txBox="1"/>
          <p:nvPr/>
        </p:nvSpPr>
        <p:spPr>
          <a:xfrm>
            <a:off x="6235700" y="37846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生成候选稿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17E2879-986D-C341-1B9E-757847217B04}"/>
              </a:ext>
            </a:extLst>
          </p:cNvPr>
          <p:cNvSpPr/>
          <p:nvPr/>
        </p:nvSpPr>
        <p:spPr>
          <a:xfrm>
            <a:off x="8515350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30803D-7561-6689-EDD4-B12F5C0FEB13}"/>
              </a:ext>
            </a:extLst>
          </p:cNvPr>
          <p:cNvSpPr txBox="1"/>
          <p:nvPr/>
        </p:nvSpPr>
        <p:spPr>
          <a:xfrm>
            <a:off x="85153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28A833F-949B-8FEA-BEF4-8F5CF9C0EC8A}"/>
              </a:ext>
            </a:extLst>
          </p:cNvPr>
          <p:cNvCxnSpPr/>
          <p:nvPr/>
        </p:nvCxnSpPr>
        <p:spPr>
          <a:xfrm>
            <a:off x="8820150" y="2717800"/>
            <a:ext cx="0" cy="1778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3CA3FE3-4258-F3A6-6220-5F8F6D4BF7F4}"/>
              </a:ext>
            </a:extLst>
          </p:cNvPr>
          <p:cNvSpPr txBox="1"/>
          <p:nvPr/>
        </p:nvSpPr>
        <p:spPr>
          <a:xfrm>
            <a:off x="8051800" y="20574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审阅并接受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4D55FB4-527E-59A8-A209-17C213FBBE65}"/>
              </a:ext>
            </a:extLst>
          </p:cNvPr>
          <p:cNvSpPr/>
          <p:nvPr/>
        </p:nvSpPr>
        <p:spPr>
          <a:xfrm>
            <a:off x="10331450" y="2895600"/>
            <a:ext cx="609600" cy="6096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900200E-50EE-3E4D-F83C-FE628B66B858}"/>
              </a:ext>
            </a:extLst>
          </p:cNvPr>
          <p:cNvSpPr txBox="1"/>
          <p:nvPr/>
        </p:nvSpPr>
        <p:spPr>
          <a:xfrm>
            <a:off x="10331450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D2DB07F-547D-1A6B-7549-04B77330F0CC}"/>
              </a:ext>
            </a:extLst>
          </p:cNvPr>
          <p:cNvCxnSpPr/>
          <p:nvPr/>
        </p:nvCxnSpPr>
        <p:spPr>
          <a:xfrm>
            <a:off x="10636250" y="3505200"/>
            <a:ext cx="0" cy="2794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6E18151-7245-CAE3-6205-4F0269405194}"/>
              </a:ext>
            </a:extLst>
          </p:cNvPr>
          <p:cNvSpPr txBox="1"/>
          <p:nvPr/>
        </p:nvSpPr>
        <p:spPr>
          <a:xfrm>
            <a:off x="9867900" y="3784600"/>
            <a:ext cx="15367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应用到章节草稿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62762B3-0E02-72BE-BA01-9F37F8170E52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9445BC6-BCC7-F8E3-4353-187E15C4E33B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D798C3-1738-72E4-3EB7-C351C660304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记住  确认计划不等于接受文字；接受也不等于已经保存正文。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46B502-92BB-D6A5-C9C9-94D7782DD4E6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AAB7C7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AAB7C7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F9492FB-E7EB-8B2B-45B9-294FC02776F1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F6644B0-FE80-157A-362E-DC4C29E00C61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AAB7C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9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6480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A73183-9B71-A65D-4BAE-7AEC69F82DE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70C591-AC7C-A109-03D1-8C89B0A02ED9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3C6485-82C9-DB27-DC38-C664CF7BAD56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选择故事方向时，先看是否适合你的故事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5BDF2B-DDA8-659F-6906-2912ED53922E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C5225E-F480-202A-F172-15B2811270A6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15B01-8F7A-7CD3-0357-4E15421AC0D8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1260B53-7A88-86C2-01CA-721AFC0B2817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C231475-BEB0-1570-ACFC-5B8652328C0A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点击“生成方向”，阅读标签和剧情摘要。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1EFB82-A2DD-44DF-C73D-B2431E7DF802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CA3C362-0ED2-0667-EF80-981ACE2BA88B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5ED5D5C-B578-1816-D71A-8B5D30FAABDE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优先选择能推进本章主要目标的方向。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24CDF1-81C2-FE89-983A-9767E305A63D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A5AEFE4-9F62-4378-A055-C46467CED1CC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214F2EF-6466-8B25-6EA0-9B975FC9CB12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检查人物有没有突然改变，秘密有没有提前揭开。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BDCCC1-718D-BF8C-2F83-BBCACCF6044B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FB64E33-1B6A-D8D0-00EA-F098F62C6295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6F4E67B-E520-B580-0C1D-DA2901036E50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确认它能自然接上上一章，并且一章内能够推进。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7A6635-3301-DEBC-B79D-F0A40666CF8E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2BE3EF-3951-E1E6-C1DD-B4B816949B98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95066C3-D32D-1A0E-0BB2-BBF5D4E6AEA2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由你点击“选择方向”；系统不能替你选择。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36C1619-3814-4E3F-F852-89EDFCD3C7C1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F39326D-B3BA-61C1-0399-358ED87CE6FD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831EBB-109E-B523-5383-B6D72D0672FB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最热闹的方向不一定最好。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F3473C-0698-ABC1-2AD3-BDAEF4D35D6D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4F78045-3C21-C78D-47C4-137A6CA11B0C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AC6A67E-8491-631A-9714-453CCAFBB1ED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4715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402120-A92F-E5F5-6BBC-2CEB8B282C3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59394A-5E85-E147-C712-7FA73192F56D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41A9B2-DA71-E329-68D9-DCF8D0F3D329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章节计划要说清楚“做什么”和“不做什么”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159394-7528-6B21-9DD2-D7EBEA6113A3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6FB17B-9ECF-FF94-06CC-08A3BC2476C8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7E661F-B609-C5AF-05D5-FC44800479EC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70E8AF-D98C-32D5-B906-1167A78E62F6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确认前检查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DB576FE-9652-1F89-331B-0D867D63FA01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86945E04-EAD6-A8D6-71EE-A688C115A46B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546341-DBCA-7D44-2D71-476BFCEED961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本章主要目标和结尾变化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4D7DD0-7D1A-BFC5-23CB-6EF2AA33052F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CF1105-7F0A-5196-2F67-F1DED9F5141C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必须出现的人物、事件或伏笔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BE6C28-2DC1-D808-877C-0C499E077EAC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53E500-19BA-05AE-67BA-11E65B7F5A2D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暂时禁止发生的事情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AE6C794-A2F9-330A-C30C-B9477F263404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F541B88-336D-F424-7E38-91EE31ED0D37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B20789-359F-27AD-764B-D4E2B1374CA6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你的操作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26FBFDB-B008-DE12-8AE5-60E749F8085A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8209DEED-62F9-93E3-1F0A-B98BB9BDEE45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33BA32-898E-A3E0-8FB2-B611EA9EAB6F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满意：确认计划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7EE2DA4-20D5-61D3-328D-CA21CB49E184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C82D5C-CBD3-6297-0B84-3F062F60725C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不满意：拒绝并重新准备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3111878-860D-BA3D-2761-9D590EEDD4F1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A0F3606-51F2-BC37-B290-EE4F3AF7C983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再查看写作任务并确认可执行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0E2F5BE-D4BB-3F57-5F77-5F642CA2EBCC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C338A34-500D-2D44-8815-27AA48FC7B78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2A51BC7-90E0-8917-4460-042ACCBD8FAD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确认计划只允许准备候选稿。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8639BD2-39AD-2CF3-D61B-BBDE1F063892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631ED30-6EFD-EB29-A974-A5BD79D6CDBF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500CF-C8F8-08E2-B731-13D544906348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0629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77302C-9BD9-83C0-9AE9-E6719B8C520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1E46A1-D14A-FA04-F75B-748331EA5152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EE4806-2FB7-7E4E-DD88-65A5D41A046C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生成候选稿前，再看一眼写作任务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06A5EC-1D74-75A4-BF2C-3109F066BA41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882A9B-C249-79D6-6843-D3B8DE458D5A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152BFE-1349-0C2D-6017-0584CFF60A2F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1E47942-CB1A-3BC1-5B89-B16F4F402BE0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B9A0846-C5B9-32FA-1690-05A5BAF34A73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查看任务详情，核对目标、必须包含和禁止事项。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C97595-A017-4146-0ADA-FBB5FFD3D4AE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DE206A0-2EEA-6917-F2C6-979D9D6E7333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EF2B2B0-B161-5E99-9E23-7153F9350C91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任务可执行且内容正确时，点击“确认可执行”。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7FF009-52B8-2FA0-F5EC-1510841EE2EB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F11BAF1-8CD5-2519-3FC9-B5B52CCB1096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8B225-03A5-4A29-FAC6-A6C558C63E70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在“续写与候选稿”点击“生成候选稿”。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39827A-EBF3-3088-6ACB-8FC24864692A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4A73DB7-57DC-DD65-B8B9-82538611DBA7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4FDEB93-4BFC-A168-7EAC-B218CEE610C9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等待候选稿出现在列表；正式正文此时不会改变。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2F7813-C5DE-1DC8-4C7E-E570649EBC61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9DBD85E-7134-3455-780A-F55460978685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A7DD4B4-C65F-5721-D9A5-E75DD7BF6D57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执行中可暂停、继续或取消；失败后先看原因。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427DEC7-4654-3189-D1F1-15FE1CC3EB69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04DC418-CC76-F233-CC87-C9AFE9502297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1EE5C4-9DB8-E727-1A8F-A5A21E6D7C6F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候选稿成功 </a:t>
            </a:r>
            <a:r>
              <a:rPr lang="en-US" altLang="zh-CN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= </a:t>
            </a:r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有一份稿可以看。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37A4DEF-2663-E0D5-9040-F39F0DEAB51C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16F9275-6221-196C-CACC-91F565C92575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4D63647-9EA6-B40A-7CA6-1657233D00B7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477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AFDDB1-EAFB-1F74-1DE4-C6E40264E3F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DFCA5E-D793-0C61-3885-008C92CD337B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90A29-7057-3B5D-C310-C0A8BEC46B5F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候选稿至少检查六件事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057537-E46A-F725-32D8-07234B779FE1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36D0D0-5E2C-341A-D0DC-A2B80261B32E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492F2-EEFA-0C90-47E9-468C8BCF8987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8EE94A-A43C-1D5C-6871-6424B5A87079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故事连续性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FEEAC09-0C73-9CC3-0BF2-A32952824844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0473D9A-8840-6352-1B4A-8EA81C785F86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D28AE8-435F-B51A-EB5C-19F8A9C89E7C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人物：性格、动机、关系和称呼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E0E201C-BC8B-84F6-CA9C-9288BF0963C2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4E287D-C973-C721-C7F7-4E561CCBA663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时间与设定：先后、地点和规则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09003E3-9F73-4173-2B72-E7542847A769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EB2691-C23D-744D-90AB-F7AC91CCA368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伏笔：有没有忘记或提前揭晓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07AD4D3-6484-FEE2-121F-CB9414BCF1E8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378A12E-835D-F49B-E6D2-E40C3ED72C25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6FAC293-0514-5E62-0FBC-075634E40540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章节质量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817523B-F611-AFCC-5B6A-C77706F2165C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60455E52-0F16-0775-15B7-BA046879D680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F38E8D-B026-4B47-DD90-2DD4CBCABADB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情节：目标、因果和结尾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44CBB7D-F3EA-832C-77E5-12E6A9A37F54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85C001-7BC0-127D-1F50-0359663F0A08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文字：节奏、语气、重复和套话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AD2232C-9E11-957F-6935-656214366D06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90C3C37-6D3F-569D-D6D4-E5535E81EF52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审阅只能作为第二意见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7DCB1A1-8811-E8EA-FCD0-4E0925BBB919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4FFE72A-41F3-0668-0A8B-5C96CDDB3552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80596D8-3391-BA43-0CF4-0E11A9CDC010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最后仍要由你完整通读。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7D4E36F-AF15-FD5E-83C6-87A492522317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872EEAC-390E-3507-286E-FEC71007BCED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305A28A-EC0C-E27D-4AD3-AF9D5662B870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38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658ACD-870E-77A2-DCF2-9AA9C20C4CC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789785-DEA4-0BA3-6722-76E943FB5B80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5A26C2-4C01-FFB9-5C2B-71993E8DBEBF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不满意时，先重写和比较版本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760530-6B42-7206-29A5-A9DF421BEAED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CBD40E-56CE-D9BA-06FF-824F562217FA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4700AE-8A56-B922-E175-93B9BC61D520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0AD50C-E26D-A240-F49B-8B977B41B90C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重写方式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E0D65F2-2ED9-A84E-D2E1-8708FC36BD24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00A6FB32-302D-017D-FF3F-715BD4C40DA5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25F1D6-3062-4018-8558-C755066532E8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按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审阅意见修订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AFAE07C-49B5-6843-C9F5-EC7B98181703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532C48-2016-8DD7-6276-F3E07EAA10B1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输入具体要求后重写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4E52D86-6B6A-265B-E5BD-0D2D7748ED0C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3FB78A-DA61-AF7C-1C39-6550BC34C25C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保留事件，只调整对白或节奏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2FFFF74-B789-3AE5-6E08-6A9D5F4C2B57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CACC6A2-8308-72E9-45C1-CFFE3C9F4A61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C025D9-D5A3-C582-09A8-6396DF873DB9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版本操作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20C4D2F-D84C-96C4-2AB7-D0217C60FD24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78243088-B290-8BEB-222A-075476DE1417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2DEB21-BEE2-B900-871E-4B9AF060B84E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查看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v1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v2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完整内容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D51CBF7-D9C2-4F04-3A5B-B60E198C610F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5F315C-92B2-E7EB-911E-C87D45B8CDB7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查看版本差异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370A297-2D0F-16ED-7F2B-98E7BDCFB812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1C533C-B95E-918E-E188-D49836954FE5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选择真正更合适的版本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03097B0-124F-88EE-973D-F7D7B3B4F27E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8F9D675-7EE0-C2A7-1DDB-B5CA3F3D75EA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410F82-9BC2-335E-0ADD-AE18564DD65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新版本不一定更好。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C08E41-47F0-ED10-7114-7D90429439BB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3547F31-37E1-6355-4B39-C0F836548207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C38F299-BF34-53AE-94CD-BE85A182B0D5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7760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6F12CB-443C-9185-8A59-D581F8E8937A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B996F-39FA-2D6D-FCE2-8400A7CB5B65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接受、应用、保存是三个动作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44A870-4274-4608-49C8-1053C505A9A7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139A94-0EED-AD77-4069-542EB57345B5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AAB7C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10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D7FDD6-B4F1-EE35-6AF0-862C0D82A8CB}"/>
              </a:ext>
            </a:extLst>
          </p:cNvPr>
          <p:cNvCxnSpPr/>
          <p:nvPr/>
        </p:nvCxnSpPr>
        <p:spPr>
          <a:xfrm>
            <a:off x="1143000" y="3200400"/>
            <a:ext cx="9906000" cy="0"/>
          </a:xfrm>
          <a:prstGeom prst="line">
            <a:avLst/>
          </a:prstGeom>
          <a:ln w="25400">
            <a:solidFill>
              <a:srgbClr val="5264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A8269780-F8BB-E3C2-FBFE-A222C3FEE014}"/>
              </a:ext>
            </a:extLst>
          </p:cNvPr>
          <p:cNvSpPr/>
          <p:nvPr/>
        </p:nvSpPr>
        <p:spPr>
          <a:xfrm>
            <a:off x="1704975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B6BACC-E777-12F6-D035-0C6D3F170D42}"/>
              </a:ext>
            </a:extLst>
          </p:cNvPr>
          <p:cNvSpPr txBox="1"/>
          <p:nvPr/>
        </p:nvSpPr>
        <p:spPr>
          <a:xfrm>
            <a:off x="1704975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35980BD-29F2-DC64-A432-A1B1E1F21A27}"/>
              </a:ext>
            </a:extLst>
          </p:cNvPr>
          <p:cNvCxnSpPr/>
          <p:nvPr/>
        </p:nvCxnSpPr>
        <p:spPr>
          <a:xfrm>
            <a:off x="2009775" y="2717800"/>
            <a:ext cx="0" cy="1778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39DAAFD-903F-85B4-B1F9-E31E80028439}"/>
              </a:ext>
            </a:extLst>
          </p:cNvPr>
          <p:cNvSpPr txBox="1"/>
          <p:nvPr/>
        </p:nvSpPr>
        <p:spPr>
          <a:xfrm>
            <a:off x="787400" y="2057400"/>
            <a:ext cx="244475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接受候选稿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C8D7737-79C0-FB38-B291-807929E288F7}"/>
              </a:ext>
            </a:extLst>
          </p:cNvPr>
          <p:cNvSpPr/>
          <p:nvPr/>
        </p:nvSpPr>
        <p:spPr>
          <a:xfrm>
            <a:off x="4429125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DCF982-EFB8-3CBF-4DFD-BC48926D24A8}"/>
              </a:ext>
            </a:extLst>
          </p:cNvPr>
          <p:cNvSpPr txBox="1"/>
          <p:nvPr/>
        </p:nvSpPr>
        <p:spPr>
          <a:xfrm>
            <a:off x="4429125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0FD6E27-0393-B2F6-D7B7-31215737ABC3}"/>
              </a:ext>
            </a:extLst>
          </p:cNvPr>
          <p:cNvCxnSpPr/>
          <p:nvPr/>
        </p:nvCxnSpPr>
        <p:spPr>
          <a:xfrm>
            <a:off x="4733925" y="3505200"/>
            <a:ext cx="0" cy="2794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2C1AF83-48F2-C077-7F29-25F084234F32}"/>
              </a:ext>
            </a:extLst>
          </p:cNvPr>
          <p:cNvSpPr txBox="1"/>
          <p:nvPr/>
        </p:nvSpPr>
        <p:spPr>
          <a:xfrm>
            <a:off x="3511550" y="3784600"/>
            <a:ext cx="244475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应用到章节草稿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C82943F-1549-5DA7-4143-18B678BEA63C}"/>
              </a:ext>
            </a:extLst>
          </p:cNvPr>
          <p:cNvSpPr/>
          <p:nvPr/>
        </p:nvSpPr>
        <p:spPr>
          <a:xfrm>
            <a:off x="7153275" y="2895600"/>
            <a:ext cx="609600" cy="609600"/>
          </a:xfrm>
          <a:prstGeom prst="ellipse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14BE13-9C42-62DE-C4F1-84E8DDADDA86}"/>
              </a:ext>
            </a:extLst>
          </p:cNvPr>
          <p:cNvSpPr txBox="1"/>
          <p:nvPr/>
        </p:nvSpPr>
        <p:spPr>
          <a:xfrm>
            <a:off x="7153275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CE48A7-F4D1-930C-3BFD-3565AB8767EE}"/>
              </a:ext>
            </a:extLst>
          </p:cNvPr>
          <p:cNvCxnSpPr/>
          <p:nvPr/>
        </p:nvCxnSpPr>
        <p:spPr>
          <a:xfrm>
            <a:off x="7458075" y="2717800"/>
            <a:ext cx="0" cy="1778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AFDFEDD-6883-A8EB-72AA-B252E4596BF2}"/>
              </a:ext>
            </a:extLst>
          </p:cNvPr>
          <p:cNvSpPr txBox="1"/>
          <p:nvPr/>
        </p:nvSpPr>
        <p:spPr>
          <a:xfrm>
            <a:off x="6235700" y="2057400"/>
            <a:ext cx="244475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作者再次通读和修改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844AE55-384B-30AF-0460-9EC28512B797}"/>
              </a:ext>
            </a:extLst>
          </p:cNvPr>
          <p:cNvSpPr/>
          <p:nvPr/>
        </p:nvSpPr>
        <p:spPr>
          <a:xfrm>
            <a:off x="9877425" y="2895600"/>
            <a:ext cx="609600" cy="6096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A0C88D-F821-F33C-C374-DC38AC45241D}"/>
              </a:ext>
            </a:extLst>
          </p:cNvPr>
          <p:cNvSpPr txBox="1"/>
          <p:nvPr/>
        </p:nvSpPr>
        <p:spPr>
          <a:xfrm>
            <a:off x="9877425" y="2994883"/>
            <a:ext cx="609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692D039-EEEA-3C3C-A368-A840222D2A60}"/>
              </a:ext>
            </a:extLst>
          </p:cNvPr>
          <p:cNvCxnSpPr/>
          <p:nvPr/>
        </p:nvCxnSpPr>
        <p:spPr>
          <a:xfrm>
            <a:off x="10182225" y="3505200"/>
            <a:ext cx="0" cy="27940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9C03416-38BB-4D78-B7BC-F8401AB359E4}"/>
              </a:ext>
            </a:extLst>
          </p:cNvPr>
          <p:cNvSpPr txBox="1"/>
          <p:nvPr/>
        </p:nvSpPr>
        <p:spPr>
          <a:xfrm>
            <a:off x="8959850" y="3784600"/>
            <a:ext cx="244475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Microsoft YaHei" panose="020B0503020204020204" pitchFamily="34" charset="-122"/>
              </a:rPr>
              <a:t>保存正文并看到已保存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B835854-DA4A-4B53-B4E8-75636B14D69E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14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B84DF57-52F4-4924-D708-B3903605C1FA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9858FE-623E-8121-9FA7-F6215B5A7ED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记住  不要在没有通读时连续点击接受和应用。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7019D1-2A3E-FF34-D4A8-E8F9E100129F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AAB7C7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AAB7C7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F8FCBAD-0EBC-076D-3A70-243812A5485B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24BE69A-7921-7E82-9026-F8FAE36B43D2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AAB7C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9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16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521F23-D7D5-0317-3377-CFCD1A0D3E1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49B912-AF08-E009-4C86-3BC1F172ABDB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03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BA04CC-3B98-5BAC-04E7-202E501C8F33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“接着写”适合卡文时快速准备一章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2DFBD5-6E59-AE66-C3D4-988B0F93B3E8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F45CE7-7743-87D9-BA08-3AF33D15D07C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11E942-A128-431C-E176-BEA52B6E7034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F745B0D-6430-D5E6-5991-15B5CB27D61B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CE3AB62-F313-A661-ADAB-C473A98466B0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打开正确章节，并确认正文已保存。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A46F12-E172-CBF8-A9E7-5D355E3D4C59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1758759-A6EB-02BE-8F5B-609D364313AC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8D5BEC6-083C-1632-A600-78D2E3E7104B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进入“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→ 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助手 → 接着写”。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041B08-4B4E-CD7F-DB2D-BD604E3C9952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9090C77-567D-6AAE-C0D3-148E8FAADD0F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899BBBA-7BA7-86EE-7E4A-EFBA6D7B980D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写一句“本章推进什么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暂时不要发生什么”。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5FFFEE-C0E3-7818-72FF-BD36F0ED7417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DE0FF53-8475-EF0C-4AD4-83AE1B1A4B61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9D5AD2F-AD97-04E3-6DB7-A73B24A55557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选择章节数、目标字数和保护设置后启动。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D37DA2-83AF-1D54-F0D0-157548A4B779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2CFB00B-22F2-CB33-900A-579142B43BEC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DB48763-7672-2658-43A3-08E8FB77A332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写完会停下来，等你查看候选稿。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DF10DF-E89B-44BD-5D1E-47EC85663313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F2B84B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5EB2961-A938-DA46-3750-4CE880503D56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8A4F4F3-6A37-F033-4955-64DD77A5706D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第一次只做一章，不要一次塞入十几个要求。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87CF623-EEA6-5AD4-5A52-5A9607978E08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CEF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EDE4DA1-9F7A-A5F2-16CE-B93ED3E235CC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6200D3-E6DD-72A3-95B6-2EDEF5FDF173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示例：接着写旧钥匙线索，但不要揭晓幕后人物。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51570A-AC8D-D950-25C9-7588D5FA678E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完成一章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2114615-0471-FA6B-11A3-CEC938BCBCF6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C650C0F-9824-63F5-6A9B-1E1E9A038996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937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6A5C1F-B9CA-FCAB-537E-9BDFD394524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B9901A-84BB-6607-D808-3BAF0D762969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A50235-91C2-0568-BB12-5D6EF48FBC1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多章续写也要逐章看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6E5688-B53F-91D1-81CD-5C4D72E2D87D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8B48E9-51D2-81CE-2BDE-EF09C23D3133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849362-C1EA-37FE-EE20-635F80C174E1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E3EBF2-D639-1FC0-BB13-A0D3551F75BF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开始前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79B42D2-6E4A-AAF8-4252-521C13FEA571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BE02CA6-C647-A393-9A34-23EAC890CC92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22D16A-A8A4-6454-F175-CABF7EC0C7C9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大纲和人物资料比较完整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E4DB899-CA84-00D4-9246-1B5EC4B3EA55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C0FB69-663E-156F-8F2B-C2278D29280B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接下来几章目标明确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7E9C8BD-A449-3355-8475-835EBCB2A87F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3EA7B6-541F-13F8-F105-08E0C829C546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第一次只设置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2—3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章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84F6E5F-BD9A-7921-C3A4-CEAC7B4E2214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949812D-47D9-499D-D69E-0BB6D49A1EC4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A54571-456B-2AEE-73F4-32868350E462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运行中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3D05E96-DC9B-5021-C56C-F17115148206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4D45FD3F-963F-5521-0BB7-086C56063229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5F94E7-1A94-332B-10CA-B59791B16BEE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每章结果保留为候选稿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EE1EBCE-8776-794F-6CCE-FAA56B8FA327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8B59DA-577F-0991-2AEA-076330414273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有问题就暂停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E05DA0E-86E5-006F-4DE6-5F33BD2BBF8D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047B82-DE4A-F201-4576-0756458465BA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取消不删除已生成候选稿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30B4E1C-3228-42BD-F9A9-1832AD81F287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56A3D64-ABDA-1A5C-A9F9-7FBBD7F4C540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4926E9-CA26-C9B6-2F58-4D5F7028418B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继续下一章不会采用当前章。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3A29E2-E0C2-5761-82A0-4C1DA39E527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560B403-D0C1-DBCD-1C19-D5C7FC9F9080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3D4339C-3FA2-3123-127A-0041AB7ED516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1319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C7FC3C-0B0E-EA87-DF56-A8F96F237FD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6DD44A-6400-54EA-91D0-405126192208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8820B6-DDC4-726E-2A26-29A506CBB979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自动续写先设置四类保护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27CD15-6753-4F42-C344-DDA4FE1F3216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34D1E9-D051-88B4-195B-D826CA3E18BC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DDF06-EDF1-8FE2-4463-F2D42DAF37A0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C2D61FD-0E16-CC52-A0F9-BE818D07F993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B37CA1F-0B3B-CA2D-4073-44F682A75F96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填写写作意图、目标章节数和每章字数。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2E189F-A1D7-B3AB-B800-665BBC48AF6D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85BE2B7-F510-0EFA-7BE1-610E6D96BE19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C8A1714-E6ED-3383-3CF4-55BC713D04B1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设置本次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用量上限。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06AEE3-B9BF-256A-DBF1-A39D4C5EA4E6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55C3FE8-ECD6-ED74-1738-6FF5492B81CC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91A1BA0-635A-3DB2-DBDD-090A819FF1B5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选择序列结束、严重冲突和预算超出时停止。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919675-1BE6-6F92-16A0-5E23E53F8C93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3C95D64-F384-7028-DAC4-AA89ADC10857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D591D77-6D44-286B-0850-DDB2EBC41ABC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选择伏笔可能提前回收时停止。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258FB4-6102-1BCA-B717-DD59AEF37E1B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A807264-543B-985A-F483-B119C8B5BF05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1CE2B96-3542-20DB-F63D-55831618D912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先保存保护设置，再启动。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BDD4FC-5B7B-4520-C260-95ECA3FC218D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55AF65D-B77E-F30F-78D1-05D06CB591FF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D433E62-7B4B-A351-DE3B-99BD104F8365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自动续写不自动发书，也不自动更新记忆。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29D713A-7644-4700-0614-19041561CF97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6E27F8D-1DA2-5D5D-4F5A-FD105588295A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4D7479-222F-649E-2763-20E676137479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第一次仍建议只做 </a:t>
            </a:r>
            <a:r>
              <a:rPr lang="en-US" altLang="zh-CN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2—3 </a:t>
            </a:r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章。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4FE1748-1FF5-61F8-B9DD-F0E415BDC7A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FE6D4D0-6299-B76D-FED3-DED629AD1CB6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887924C-2D9B-6D1D-E196-3B2D225FD012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628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8122E7-07F4-7EAE-9BF2-767349F3C7C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F5237E-2FCB-E745-E7C4-8B4E9A84E4DE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82CBA7-ACEB-18B7-181D-19AA2CB4D556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暂停、停止和放弃，后果完全不同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815557-E3A0-D861-570F-47F4D21F5307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D032C2-348D-8F6E-E2EE-9C4C61F79FDA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C91276-C7CF-885F-00F3-8A447448103B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99FF8-5C4F-F5A9-EF85-B0BE28D41616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还能恢复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AB47B27-3A18-BAF5-AE93-6DCAA7D0C86D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83B22559-079E-A2D8-BFE5-85C001F1EF12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29564A-69AE-5490-319E-83B162CF938C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暂停：暂时停下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404C2E-63D3-4F41-F1F3-DD39E4AFC425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20B845-C196-840E-BDEB-0425A905BD33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停止：处理原因后可能恢复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44A764-0FF4-4C04-ECB3-350BCB3DA57F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709F9C-B29D-9E6D-82FC-1FD5F7037ACD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回原任务明确点击继续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E1022B1-1072-3447-3C54-0179ED030178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CC7044A-3295-4170-312D-C18B162A0BB2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E65BA4-1C8F-7288-3DBB-12D3FBFEDC11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不能恢复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25E0976-13F0-6837-8CBB-A2F54BEAAF11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84CCB48D-2B04-DCA6-8A04-C2C3DFECE192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ADA719-C824-F86F-E4FA-3B251CD48D45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放弃这次：任务永久取消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1D6267E-CC90-3E73-8F51-C8F3203B1E53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FF9984-73E2-F675-720B-C3C8D2964164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已有候选稿仍然保留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3170445-6F06-167C-89EA-A90C383A2FFC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30069AE-2CFC-E0A3-0F8F-865E2985DD19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放弃前会二次确认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898BCF9-680F-F451-C956-D3607E8E52AD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7C883CB-BF55-1ADC-978A-57A59C0893B1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D93954-8F09-42FB-1CB2-C79F68A20815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修复预算或资料后也不会自动恢复。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A63590-C86D-B325-FC50-1267FE6FDA02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01A67F0-38DE-8F8F-E488-AFA21290B417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5EFE0B5-0DD0-6D8F-AE99-1EAFE471FC09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1945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3D8BEC1-025A-8BF2-0192-9972918C413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720369-8AA0-19E5-9F4D-49F5961FD1CA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283567-547C-69D5-871C-EBD981ACE456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大纲辅助的结果先进入草稿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06F728-34D7-D903-F556-09B89E4B40E0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ACE209-C8EC-B129-558D-906DA98701E7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5C3D74-C08E-6BD7-C930-BFA72B2E05EF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017BACA-F46E-A459-6E24-9CB6A6E94F2A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1817A5C-B816-49E2-EBE4-6939B1900703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先写清主角目标、阻力和接下来三章。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87020C-4B5E-D532-44FA-FC4CAB7DFF4F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2D6676B-32CE-FD70-C840-6246DB593C0E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8A45288-1513-56D9-7A46-96D859285E72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选择润色、扩写、续写或整理。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804935-19A6-09BE-A9F0-A9A7CBDF98CF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CC3FAA4-4771-BF0E-7DDB-11A25C9717D6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08C1C23-180D-80CA-9265-DE48046F89AA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对比现在的大纲和建议内容。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42614C-F8C9-3123-862E-18CBB45D27B2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0E48C5C-0FD9-1CA3-B216-97EFDAC3E919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7B7A68E-7045-E8A2-0E48-BB4A64D17811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检查冲突和建议是否过期。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E17857-063E-3ADC-FCFD-DBA25C00362B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5795568-89CD-A0FE-216E-0AF8503EFB93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CB4068A-B44F-7FC6-E553-6A53628539DE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满意后放进大纲，再回到编辑区检查。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998A55-B9BF-4DD8-000A-BF6B58406AE4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65D22D8-8F68-7B45-0185-66B061713A20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CE90C43-13DA-3C40-1844-263AE2190E9E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最后手动保存正式大纲。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42B3EED-3B8F-B56F-9504-DBBB60AF64E3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406C109-D205-A332-D2C0-4839FD07AD8E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DBC528-E5ED-FA7E-AD76-AA75365664A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大纲变化后，旧建议会过期。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9120F1-1BFD-70CF-0A39-81A3ED67BC52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478BB0B-3D7B-101D-B76E-31D556083FCD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9B7BA31-FFD8-09D6-EC8F-37928AD8BFDC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090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F30C3F-4C68-4BA8-9E56-E132BA9A3AC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9D045-036F-6940-412C-EB5B55C747BD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4839D8-9286-CB69-A8CD-666818E7C652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人物、时间线和伏笔是长篇的基础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006D67-4265-45DD-512D-8528B18366D3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9C144-A178-ED75-CC5A-23304E031704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77BC71-CBAE-D9BC-EC60-0AD331C5F33A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5A6D2B-F306-3366-8688-60EBD254264A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人物与时间线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4FDA030-95A6-FC81-CA3D-F7A57B8AFB56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103502BD-82A8-C2D8-5712-9FCAEA182866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18E23E-3831-17D7-B1B4-8BFA3DDBFEC6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人物：姓名、别名、目标、关系和变化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99A322B-2313-9973-8745-FC254DF30B15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C91255-CD68-0DD3-C886-94EB0A0076B9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时间线：实际顺序、日期、季节和地点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6C134CC-9F00-E019-E77C-446476DF280C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2FF0E7-B353-A997-6956-AEDDC4B45426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倒叙和并行线按真实发生时间记录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1F85FE4-50CB-89AB-9C54-E7A51C2702AE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EB56560-8DB1-2781-0CDE-54837C73BC48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E1A9B8-8BB8-E32D-7383-F4B1F07D4228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伏笔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2941344-76B3-D215-E29A-9EFEAC62B154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9CA6648C-CF6A-B1BC-9930-73B83E7C2CD3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5B3EDE-D08B-786F-5669-2C90BA822985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记录埋下、推进和回收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A4392C4-849A-E0B7-3310-298BAEF98DBE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54447F-F719-92EE-EDB1-0E019BBF66BA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标明首次出现章节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586070E-E518-C973-69F4-9429AE676C7F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8F4BF60-0E4D-7A07-7266-C9494D1DFD85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写清什么时候可以揭晓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0715BA1-F87E-39A1-A2EE-9FB0C00A2689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5BE2730-98FC-165E-FD55-E6E8F9DB0091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3DDB8D-A6A3-910A-B24E-829C492D652C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资料变化后及时更新。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2A0085-F086-E7F0-5CFC-364B2CE2CD21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4376D87-7AC3-1274-3773-D7AF6327CD42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C8B1D4D-D4BA-4865-A741-E20B05F8483A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70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2098F8-436F-BEFC-6DB6-BD44D9A9157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9F6E67-C3EB-AB8D-78D8-7135D0D0D62E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9EE810-F433-B8BE-6915-64F597544E4F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@</a:t>
            </a:r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引用帮助系统找到正确资料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C537B0-9A4F-7B36-144A-FA6E1D9AB224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C2E937-98F5-B6F2-7485-4698ED7E9DEB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848E0C-53D8-F60C-D88A-B576E4B06D3C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61F8D9-C25B-FCEE-082A-0D2C3377EE8F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怎么使用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F87B9D2-1E7A-5317-B825-8C1A973CE7D7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9AAA143D-744A-3926-DF7A-D2647BD9A02A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9B4139-5BA5-D18C-367F-610F3F6287D4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在正文输入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@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和关键词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CC944D3-318A-70DA-FD1F-DE869C94450B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CDB629-7019-0289-7991-D5BB07667150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选择人物、事件或伏笔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447573B-15BF-C6E5-3AE4-B7C5E82C5199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5CA39B-4A0A-827E-EC76-1E2E033C0929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鼠标停留查看摘要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322CD6E-C267-F1C6-1C2C-23444A446C9F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7751E09-688E-5BE9-BA62-90E877D45EB1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10F509-76CF-19FF-139E-505BDB0CA773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显示异常时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1A4894C-B432-4F5B-91B5-55AA62C4211D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8B0247D3-AC8B-C5A4-C415-A1CF5F1E5B81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FB771D-AAE8-D605-0DB2-E2172705998D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建议引用样式不同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4BC21B2-8A1E-0569-EBCA-FD38150E806A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3667B1-0FF3-DDD9-7A63-DC078A50EE74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资料变化后可能失效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911349D-D754-1B0A-8201-DD35EA8BADC3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BAEF04F-FA63-FEB4-E462-CEBDB08FA862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重新输入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@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并选择当前资料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3E3A55F-A21D-498E-02B5-56FD3C7E8BE1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5A6FB23-AB62-67DC-B809-2CA348039C37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E17B8C-3FD5-3E4E-99C3-74A9943270FA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引用不会把内部编号写进最终正文。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228FB6-1107-1A3D-A890-B3A792DBFF69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4912391-BA82-E1BC-8A33-C64069F02A14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2F66B7A-B6BE-880A-0BB3-A7B4B74CD78D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590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6C982C-9A4A-759F-8C91-F35C17F06D5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2C159E-93C4-4602-14CE-6E91C85DD6C8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900697-7490-E49E-6393-137791438450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选区改写只改你选中的那一小段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80F5AB-E568-E3D1-BAC3-4024903A5A96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1D0764-A2EF-9568-5F79-3C1F739E3B0E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B21E74-4239-C993-1564-604B0CEDA802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57ACA2-DCB1-F258-7CDA-8CAE2D90EABA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E128E28-5F3B-2CBB-58D2-B7BB0293E5D1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选中文字，选择扩写、缩写、润色或重写。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5951A0-B506-6271-8959-8C099ADD79FA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DE02CCA-7973-88B5-A682-DF16B83A063A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22FA473-E8FC-72A2-B440-D6A926569C28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扩写补细节；缩写去重复；润色改善表达。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7C4258-F91C-D842-62D4-33C5421B816A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2E958AA-0833-0D24-7FC4-19E7928D55E1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7421A13-4081-DCB5-CBAE-BC73194827A2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等待新文后，对比原文和新文。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E06797D-2571-5DDA-6B23-E08668F0AE43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065B1D8-C0BE-EE14-81F7-88D3417FEAC4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89CA1C9-77EE-5BD6-79CC-2900ABFFBF2B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需要时继续手工修改新文。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2126DA-B2A9-FACC-953C-61B677BF16DB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F814427-EF62-382F-5493-196798F93EFF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1F05F39-D082-6FE2-0561-0EE279D8C015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满意才采用，不满意就拒绝。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E56542-5E44-6D32-FD90-677D9C48E63F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363AB0-55C8-D70C-6346-74C98F99237D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7472527-921A-9986-4C6A-93D1D1DBFCAA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应用后重新通读；不合适可以撤销。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0DFBAE-4F3B-81BF-8CF4-275500194A0A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BEC9DEB-D55F-A125-99B1-C752D0174567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71BC83-2F9A-6A7F-F314-2F98D8806B9D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关键场景优先自己写。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8524537-F513-99F1-1969-A18631194E0B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515120B-E83B-77AA-61B4-4D55547F74B2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2918F34-652C-EAA1-11F9-4E8F1F76BFA0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418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8BB2FA-4394-7853-5A74-5F52D43175A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AFE8E-0055-573C-1BE3-B54284D14A37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D7D1A3-B9B4-4796-1063-E71A46E9B97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风格画像和开篇助手都只是参考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E8FE94-E14B-C9EB-E53B-880639259A72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248D84-573A-D4AE-69D9-149C8AF4D967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684112-7EB8-68D0-A24F-AA11DE276B71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5921BB-D968-AC1B-D52D-B905A82D28E6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风格画像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C724C4F-1DDB-3341-EF04-E9E233BF2DEE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05248ADE-0CC9-A185-E8EA-C0E5B1933CF6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BC16F7-3B2E-F7CE-868F-AB81D1ACFD4E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选有代表性的自有章节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233251E-D405-7F11-FEFA-C9BB3C636029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6231F5-DB3F-13C1-4636-60EF304E3F80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样本太短时不要过度相信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FEE6143-A4C6-477A-EBB7-5F39C24BB4B4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B03A2F-7A66-7422-53E7-48ECE64C1A89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确认画像只表示允许参考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B2ABFDB-727F-007C-EDC1-97ED4DFA789F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5927E20-D36A-92F7-E102-A3D4A943C4F3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C0773B-2518-7F71-E52F-A82EA32E9A7A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开篇助手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EC4983-A3DA-604A-52B3-5FBE3D811D9E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5CBE1FD4-82FD-0324-9427-DCF58181AE06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AA4E08-2592-7660-DBB3-2D27A2663684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先写故事想法，再选开篇方向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A293413-6A87-9861-83C5-AF0EC9AF3756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EE87BF-2695-E9F6-B9DD-CED99B84F28D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参考作品只分析结构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337B9C5-98EE-5101-2536-028FE69273EB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238542-C14E-6BCB-8A6A-94770E47009B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前三章仍然是候选稿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AAE2196-C15B-296D-8C29-4BCAAF80F352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24C76A3-36BA-B053-44CB-A532B8CB6A5A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73493B-76CA-7B33-3B84-EB1DAFAA65F1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风格画像不会锁死写法。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2F0B16B-90EE-16C1-8101-D25C75F2F05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0021C1F-E5BB-A152-7CA6-58CAEC6C39BB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8604EDC-FA96-4A6E-F53A-C9F1F1D2002D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8268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2FA4483-6B46-6F63-6BBE-3D71A28E5D9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125E34-9391-BF17-57B2-DE44E288D5B9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B283D1-32F8-0CE8-A795-206FB1DF3E3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先看引用，再处理冲突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D613FD-95D5-BF42-D27D-3ADC26C80267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01EEE0-1010-267E-0F1E-6B7B020DA1D9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F39067-743F-BF68-A797-A57A6AA6AAFB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61F0C3-BBA3-FF6B-42EA-5E6FD5F1A6E8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引用来源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A7B184-1D7E-7C96-91B3-CB8A12E1216D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4825438-57E3-2C57-B3F8-C3AD9FB7C380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69D910-55EF-5BD5-8FDB-2BF6E77A8B72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已确认：来源仍一致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470B973-46FD-3DB1-5352-2223D48D328B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274138-C2E1-F8FF-15D3-62A9262A7473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已变化：按当前资料核对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46F76D3-4E78-46E1-0349-A00B53EFF8C1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5BA2A9-B862-EDA2-4AB8-62E50936BB17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找不到：不要直接相信相关说法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1D0EBF4-0F41-D717-2180-145D71389652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E4434C2-BB09-A68F-5D41-0ED71B4F0DEC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F2B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F2B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FB2888-C440-6E3A-ED60-13B2465E6510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冲突等级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DC269CD-8D24-0EA4-24C8-E583CF65B173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58BDEA85-E75C-C2D9-9B73-2EAE34CC6AA9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C034A6-A41B-FF9D-BBCE-233BF273D64B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一般提示：帮助理解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3F0D8AA-4EDB-BBCB-B133-BD93E348B557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31965E-90BA-ECF0-A35A-CBE0C0B7294E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警告：知情后由作者决定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DCB4FCA-C98C-34D9-2FB4-7D8B39E09AF1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297A9A-C0BB-86F5-B46C-2DF66121A40C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阻断：必须处理后才能应用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B275186-5E4A-3812-2D59-4183AE7CCFEB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0E2E1AA-ADC0-DE2D-A719-2204D95F480F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4F0BE5-B633-15B8-ADC5-8C345D8967A1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阻断冲突不能被当成警告跳过。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AB5402-6FE4-A416-0321-919CDDFD599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BA52397-52E7-EADE-A62D-039B307862D1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1AC66DD-DA2E-1A8C-42BC-C91A5CEBCD32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325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D7B60B-8C7C-DA0A-B388-FBE28EE51C1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DCD45-2AB9-A63A-353E-2B78EC01883B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04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F31E96-F544-39F4-B7B6-34E4F47C9E55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应用正文以后，还要单独审阅故事记忆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AC4C34-BD74-13CB-D08A-17062951E0E0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CDE390-DCF0-6B10-9D4D-AFF90507171C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36F79A-7BEA-B8DA-3C89-29EB57DF2E83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B6982A4-B345-9F20-0A86-F6F20E6483EF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178EDAC-D2FD-8C6E-9FB5-1BA3F8179E93}"/>
              </a:ext>
            </a:extLst>
          </p:cNvPr>
          <p:cNvSpPr txBox="1"/>
          <p:nvPr/>
        </p:nvSpPr>
        <p:spPr>
          <a:xfrm>
            <a:off x="1727200" y="19431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候选稿可能建议更新人物、设定、事件、时间线或伏笔。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B722C0-D4F6-895D-E0AF-988143862BE8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B6B4D75-5C7A-B796-D5C6-CF9214075838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AFEE2-36FB-EB9D-6540-807C8C8DF300}"/>
              </a:ext>
            </a:extLst>
          </p:cNvPr>
          <p:cNvSpPr txBox="1"/>
          <p:nvPr/>
        </p:nvSpPr>
        <p:spPr>
          <a:xfrm>
            <a:off x="1727200" y="2984500"/>
            <a:ext cx="39624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判断内容是否真的发生，而不是计划、猜测或假象。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A8E065-561B-A1C0-7191-D635BF0AF7A7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6210AC8-08A0-F231-B502-693F484B12A9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F5D4C6C-F206-0122-60B8-575715E929F4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可以通过、编辑后通过、拒绝或稍后处理。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22C9DDB-FA5C-2208-AF3F-105F225275F4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19D60F3-6DD9-9E2A-F5AB-A70543623BAB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7DE140C-A675-3398-6FEC-0E6CB8E941E3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一组建议确认后，再应用本组修订。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31EF9B-3767-6E84-1DF6-60388B5C87BB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E76973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E76973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01A55D1-6B8B-33CA-E2FB-74FF24523412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EEAC925-2C22-DF4C-2982-BA21262BEB84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正文采用和记忆更新是两个独立动作。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2042248-FCAA-77E8-B083-3C30BE73AA4D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F9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B830EC-1618-624A-9A7E-BDABF4BA03F9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E769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B87C66-FEF2-9689-2F92-D2928EF710FF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只有作者确认后，建议才进入正式故事记忆。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45A539-B60B-385D-D401-688B367552EB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助手与安全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B56AA57-08C0-E2DB-3E0C-842000FBB352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E769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59CCFA5-261E-5C1B-A53E-6C470FC9210E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430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F63FAC-FC7A-B24C-AFE3-C237AE8F487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850598-BC2D-7485-E60D-4450DEEC0BA7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05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CF164-7E61-D1C1-2F8E-139C8CB39B92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预算页面先回答三个问题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B86B61-0FE2-5A4F-58D3-56E0C09BFCA7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B3C86B-4A57-64E4-B073-18C008CF22D2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E5B8A2-D6E3-C1E4-9467-D6CDD93B269F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69F49A2-02A7-AE99-7616-CDD6592BBF53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625F749-5B1D-0A46-0630-750AF0A7716F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本月预计用了多少钱？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6C0547-687F-4259-26C1-AB6AED159252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A3554E5-DE7D-FED3-BDBC-166004808674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408291A-2B47-6C49-FD6F-5675EC95979C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本月预算还剩多少？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22086D-EDF5-646B-F74D-8D388CEBABB2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ADF9559-83D2-7936-EA6B-01DA3E14AE1C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03236CB-EDC9-A0FE-FA4F-CB6A4CDFDF96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当前预算状态是否允许继续？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D432F4-370D-3967-26F5-83E50724C716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2E4AAA1-2097-A6F2-E90B-85724C609A1A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41E66EB-F026-BDC0-C0B9-38E19C71A0E8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作品可以继承默认预算，也可以单独设置。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79E783-CAFE-3D8E-DF92-CE5BAB6B8E1A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CF35FFD-BC83-37B1-F630-3742C581CB7F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CBA6F04-3E19-E29C-9571-DC93A91F3F72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手填价格前必须核对服务商官方说明。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DCE224-D810-3BBC-F622-596660FE74CC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EEF5336-C5C1-9D0E-AD20-E27FA55BAFC6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AB6EEC3-32D5-B89A-6806-B6D1EFB3C2BA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费用或用量不明时，系统会保护性停下。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04F9099-8D10-61F3-F49D-849CF1F1DC56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6F947CB-4995-A216-DA8F-6D69590B67A6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E4CB2B-EA68-03AD-C45F-AB80E6B2702F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调高预算后仍要回原功能点击继续。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CAD48E8-55DB-1119-E955-6D185BA5D9C2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A840B8C-6F3C-5D0E-7AA5-F4388127E231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D456F2D-6B1C-BE63-D131-35F3F3BAFD18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62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C70924-EE75-DAFA-D2B9-3CDDEA471CE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AC6B34-4285-15CF-1EE2-3D5495CF3CB3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05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22B5C-6023-5195-EEE3-180740F367E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创作分析帮你发现现象，不给作品打分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125EDE-94AD-CA48-7E4E-12FA6DB12BFB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6BAB40-A715-CBC9-D0B7-7E0CCE344FA6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32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56F737-AF65-B663-041A-229969BE02D9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46AB3-57D1-5261-484D-B7113878130C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可以观察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54EBC-4674-CBF5-E402-E176826BABD4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9ADBEB11-C49A-DF02-EE17-3536A6C904D0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CA7BB-8A18-2416-D2FD-299021DB98BB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篇幅、节奏和高潮间隔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3759700-B532-EAB5-CA57-BDF2F55BC924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96D825-060F-B10E-C251-7D112D4AEFEE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对白比例和常用词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1B1F0A-7AA6-4B44-932A-E47FA3D34C17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EAFF0B-AE20-3059-7B82-4361E2329427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风格变化和候选稿使用情况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CD2EB17-0C8A-C3C1-39E8-802D9970C103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AFF775C-8C2D-47B9-673E-42AF42DB1279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3B9B20-4269-B95D-EB94-49A0BB5550FC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正确理解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CE8F602-8CBA-8845-605F-09CB88D8C62A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039E00B1-0E4A-C02D-F87A-394BE302CEAB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B0DCCF-92CA-F9A4-4A44-F4CC4C1323AF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长篇可能使用缓存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8F88BD2-C042-D85F-F7B3-E4AD03FFFEBF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4D1C5E-FEFE-6FEE-3E48-772E291F0E9C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正文变化后可重新统计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8B76D6C-F009-0A61-7D3C-9A92FF2652BA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3A4ABA4-2A47-8325-B17E-766A0E540C7B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使用分析不是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文本检测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BEA5B4-5786-EC9B-14A9-BF5288DACEA3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640948E-E9CC-FF1C-7412-73447D0F281C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6E839E4-BAAB-8165-4259-EC25F3811881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看到异常后，回到章节亲自阅读。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5FF138-F103-98B3-E70B-E7A3DB985AF8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BC99E23-F19E-AE13-5686-CBAB18E3AF30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E73A3FC-9750-99D7-EB60-47D6262685C8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32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5274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820AD7-0A24-C58D-85CF-3911AFFC3C3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4CFF8E-96C9-5DB0-C234-B225713AED89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05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67B554-8EE9-73CC-F05C-CAC13C53AD5B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按钮不见、变灰或任务停住，先找原因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53FBAF-7F15-4F03-8708-8DE2F58ED638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EC7977-3B8F-0BFB-4CD4-C039FFA5105B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33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9C6506-D827-F496-12A9-53172AF69525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C7BD6D-495E-38DA-EEC1-203A2B5E279B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入口问题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4334F4-535F-E22F-FCC5-A6C58CE15186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096B15AE-280E-9F06-43E5-7F61F5028A08}"/>
              </a:ext>
            </a:extLst>
          </p:cNvPr>
          <p:cNvSpPr/>
          <p:nvPr/>
        </p:nvSpPr>
        <p:spPr>
          <a:xfrm>
            <a:off x="609600" y="30607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706C16-0B4B-4BC6-8E0C-4A5F0186AF63}"/>
              </a:ext>
            </a:extLst>
          </p:cNvPr>
          <p:cNvSpPr txBox="1"/>
          <p:nvPr/>
        </p:nvSpPr>
        <p:spPr>
          <a:xfrm>
            <a:off x="863600" y="29464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检查写作助手开关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5C4BDD7-0CF6-765E-26E5-B42F0AB5BB0B}"/>
              </a:ext>
            </a:extLst>
          </p:cNvPr>
          <p:cNvSpPr/>
          <p:nvPr/>
        </p:nvSpPr>
        <p:spPr>
          <a:xfrm>
            <a:off x="609600" y="37084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E570B8-F597-6192-232B-54FDE7E6F077}"/>
              </a:ext>
            </a:extLst>
          </p:cNvPr>
          <p:cNvSpPr txBox="1"/>
          <p:nvPr/>
        </p:nvSpPr>
        <p:spPr>
          <a:xfrm>
            <a:off x="863600" y="35941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确认已选章节并完成 </a:t>
            </a:r>
            <a:r>
              <a:rPr lang="en-US" altLang="zh-CN" sz="1450">
                <a:solidFill>
                  <a:srgbClr val="17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配置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62AB83F-A511-689F-85AB-AB4882191B6E}"/>
              </a:ext>
            </a:extLst>
          </p:cNvPr>
          <p:cNvSpPr/>
          <p:nvPr/>
        </p:nvSpPr>
        <p:spPr>
          <a:xfrm>
            <a:off x="609600" y="43561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A382B7-E29C-2B03-9731-70DC85C1FB55}"/>
              </a:ext>
            </a:extLst>
          </p:cNvPr>
          <p:cNvSpPr txBox="1"/>
          <p:nvPr/>
        </p:nvSpPr>
        <p:spPr>
          <a:xfrm>
            <a:off x="863600" y="42418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检查未保存修改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74FC025-578F-1B72-5BD6-E64B09874483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CAD272D-76A4-C3EE-5B43-A1BFF5C82FE5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7EEFE0-91F2-1032-E66E-DB26FA812D60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任务问题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CEF7C2A-8393-0B18-4D46-B1C0BF4F6A76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E492F79F-D2FA-D624-F161-69A819341837}"/>
              </a:ext>
            </a:extLst>
          </p:cNvPr>
          <p:cNvSpPr/>
          <p:nvPr/>
        </p:nvSpPr>
        <p:spPr>
          <a:xfrm>
            <a:off x="6350000" y="30607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A5BA07-A5A7-58DB-FED7-0A098035BB09}"/>
              </a:ext>
            </a:extLst>
          </p:cNvPr>
          <p:cNvSpPr txBox="1"/>
          <p:nvPr/>
        </p:nvSpPr>
        <p:spPr>
          <a:xfrm>
            <a:off x="6604000" y="29464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看是否等待方向、计划或审阅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336DEB6-8601-959D-9649-6C9D804995EB}"/>
              </a:ext>
            </a:extLst>
          </p:cNvPr>
          <p:cNvSpPr/>
          <p:nvPr/>
        </p:nvSpPr>
        <p:spPr>
          <a:xfrm>
            <a:off x="6350000" y="37084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E5344F-85FB-D090-D2FF-05D451CB1045}"/>
              </a:ext>
            </a:extLst>
          </p:cNvPr>
          <p:cNvSpPr txBox="1"/>
          <p:nvPr/>
        </p:nvSpPr>
        <p:spPr>
          <a:xfrm>
            <a:off x="6604000" y="35941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检查预算、冲突和伏笔保护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104E8B1-6A2D-5BC1-0E1D-3536F5CD770B}"/>
              </a:ext>
            </a:extLst>
          </p:cNvPr>
          <p:cNvSpPr/>
          <p:nvPr/>
        </p:nvSpPr>
        <p:spPr>
          <a:xfrm>
            <a:off x="6350000" y="43561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09F5D5-A0DB-1F2A-D394-FEF602BC77AB}"/>
              </a:ext>
            </a:extLst>
          </p:cNvPr>
          <p:cNvSpPr txBox="1"/>
          <p:nvPr/>
        </p:nvSpPr>
        <p:spPr>
          <a:xfrm>
            <a:off x="6604000" y="42418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处理后回原任务继续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4AB4645-BCF6-E3FA-4E15-F6A39FF4B074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0BB9CA-4150-7564-B15A-7CE6A2EA631B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A3B0E71-8D82-0FB6-EC55-6B4F14D3F7B6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不要连续创建多个相同任务。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63F724-4D9E-D382-A06A-6603D101C0BD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5166588-7D3F-B350-2BA6-02D577FEE3D1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C81ACB5-010D-4243-C53C-25554B6ADD08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33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34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353F52-497A-0925-5581-57B2A3B2D06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9E652E-9B9D-518B-1F5D-519C930B484D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05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6840F5-D6BA-C410-0A5B-BC1581D1025E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每天写一章，按这个顺序最稳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209C84-D8D7-90FF-4193-2A083C60679A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B0442C-AB45-311A-0A3E-04BD08BF442C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34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F63AE-113D-3309-B365-4E7423CB6820}"/>
              </a:ext>
            </a:extLst>
          </p:cNvPr>
          <p:cNvSpPr txBox="1"/>
          <p:nvPr/>
        </p:nvSpPr>
        <p:spPr>
          <a:xfrm>
            <a:off x="6096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60D68BB-3A83-F155-CBB8-D7D81EA15A59}"/>
              </a:ext>
            </a:extLst>
          </p:cNvPr>
          <p:cNvCxnSpPr/>
          <p:nvPr/>
        </p:nvCxnSpPr>
        <p:spPr>
          <a:xfrm>
            <a:off x="12700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B812DC6-0F02-A8C2-9D7E-402EA67A2C4A}"/>
              </a:ext>
            </a:extLst>
          </p:cNvPr>
          <p:cNvSpPr txBox="1"/>
          <p:nvPr/>
        </p:nvSpPr>
        <p:spPr>
          <a:xfrm>
            <a:off x="17272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开始前：看上一章结尾、本章目标、人物和伏笔。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444614-2408-67FD-65D0-F50FC89B2275}"/>
              </a:ext>
            </a:extLst>
          </p:cNvPr>
          <p:cNvSpPr txBox="1"/>
          <p:nvPr/>
        </p:nvSpPr>
        <p:spPr>
          <a:xfrm>
            <a:off x="6096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E576A37-6789-5D58-F950-28468960F4C2}"/>
              </a:ext>
            </a:extLst>
          </p:cNvPr>
          <p:cNvCxnSpPr/>
          <p:nvPr/>
        </p:nvCxnSpPr>
        <p:spPr>
          <a:xfrm>
            <a:off x="12700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6AD403C-46C7-1742-852F-901C1C8DB4F7}"/>
              </a:ext>
            </a:extLst>
          </p:cNvPr>
          <p:cNvSpPr txBox="1"/>
          <p:nvPr/>
        </p:nvSpPr>
        <p:spPr>
          <a:xfrm>
            <a:off x="17272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写作中：关键场景自己写；卡住时再用接着写。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914F39-4A77-0D09-EFAB-23FAC9507A2E}"/>
              </a:ext>
            </a:extLst>
          </p:cNvPr>
          <p:cNvSpPr txBox="1"/>
          <p:nvPr/>
        </p:nvSpPr>
        <p:spPr>
          <a:xfrm>
            <a:off x="6096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B8B42CD-B184-EECF-976B-A134DB9FB803}"/>
              </a:ext>
            </a:extLst>
          </p:cNvPr>
          <p:cNvCxnSpPr/>
          <p:nvPr/>
        </p:nvCxnSpPr>
        <p:spPr>
          <a:xfrm>
            <a:off x="1270000" y="42418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4ECCED2-71E6-2B31-88EC-AE2FD593A70E}"/>
              </a:ext>
            </a:extLst>
          </p:cNvPr>
          <p:cNvSpPr txBox="1"/>
          <p:nvPr/>
        </p:nvSpPr>
        <p:spPr>
          <a:xfrm>
            <a:off x="17272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局部表达不满意时，只改选中的内容。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5F8C4C-842F-5685-8573-8AF59F0EEF48}"/>
              </a:ext>
            </a:extLst>
          </p:cNvPr>
          <p:cNvSpPr txBox="1"/>
          <p:nvPr/>
        </p:nvSpPr>
        <p:spPr>
          <a:xfrm>
            <a:off x="6172200" y="19761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2F0E2F-F2B7-BED6-AC42-ABB9611D4B25}"/>
              </a:ext>
            </a:extLst>
          </p:cNvPr>
          <p:cNvCxnSpPr/>
          <p:nvPr/>
        </p:nvCxnSpPr>
        <p:spPr>
          <a:xfrm>
            <a:off x="6832600" y="21590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66423D8-359A-197D-B6CA-4A9942024535}"/>
              </a:ext>
            </a:extLst>
          </p:cNvPr>
          <p:cNvSpPr txBox="1"/>
          <p:nvPr/>
        </p:nvSpPr>
        <p:spPr>
          <a:xfrm>
            <a:off x="7289800" y="19431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候选稿完成后，查看全文、引用、审阅和冲突。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B4B1E6-025F-8296-06DD-6633931251F0}"/>
              </a:ext>
            </a:extLst>
          </p:cNvPr>
          <p:cNvSpPr txBox="1"/>
          <p:nvPr/>
        </p:nvSpPr>
        <p:spPr>
          <a:xfrm>
            <a:off x="6172200" y="30175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D098E64-89C6-1741-B706-93F13039188F}"/>
              </a:ext>
            </a:extLst>
          </p:cNvPr>
          <p:cNvCxnSpPr/>
          <p:nvPr/>
        </p:nvCxnSpPr>
        <p:spPr>
          <a:xfrm>
            <a:off x="6832600" y="32004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8F655-73F0-4EFA-A0D2-BF6FACA6A8AD}"/>
              </a:ext>
            </a:extLst>
          </p:cNvPr>
          <p:cNvSpPr txBox="1"/>
          <p:nvPr/>
        </p:nvSpPr>
        <p:spPr>
          <a:xfrm>
            <a:off x="7289800" y="29845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满意才接受和应用；然后自己修改并保存。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693629-BF58-AC72-5D24-BA4A95BC7ED4}"/>
              </a:ext>
            </a:extLst>
          </p:cNvPr>
          <p:cNvSpPr txBox="1"/>
          <p:nvPr/>
        </p:nvSpPr>
        <p:spPr>
          <a:xfrm>
            <a:off x="6172200" y="4058994"/>
            <a:ext cx="5334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700" b="1">
                <a:solidFill>
                  <a:srgbClr val="356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7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AA6C290-BE49-01A1-2298-938F5422108F}"/>
              </a:ext>
            </a:extLst>
          </p:cNvPr>
          <p:cNvCxnSpPr/>
          <p:nvPr/>
        </p:nvCxnSpPr>
        <p:spPr>
          <a:xfrm>
            <a:off x="6832600" y="4241800"/>
            <a:ext cx="3048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4BFD7D4-321C-6F14-73C9-878EB1B4F64E}"/>
              </a:ext>
            </a:extLst>
          </p:cNvPr>
          <p:cNvSpPr txBox="1"/>
          <p:nvPr/>
        </p:nvSpPr>
        <p:spPr>
          <a:xfrm>
            <a:off x="7289800" y="4025900"/>
            <a:ext cx="3962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最后审阅故事记忆，再进入下一章。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8E9258A-2D09-BF2F-A1BB-BD7D8036CF57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74307A9-44AA-B501-DADE-BBF40729B1A2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8AC831-A95D-0DB9-7D08-8DDC6A6B6F2D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每写完 </a:t>
            </a:r>
            <a:r>
              <a:rPr lang="en-US" altLang="zh-CN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3—5 </a:t>
            </a:r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章，再更新资料并查看费用和分析。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014B10D-049A-C77E-C710-FBB51B335A5A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F9D90AA-8B24-801A-1282-D58E86163528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DC68778-473D-6FD8-4098-0CBB134E81CA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34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0092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09CACA-262F-77A0-302A-7E58E237991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137A7B-0BE5-DF32-F5A5-7614984F9E3E}"/>
              </a:ext>
            </a:extLst>
          </p:cNvPr>
          <p:cNvSpPr txBox="1"/>
          <p:nvPr/>
        </p:nvSpPr>
        <p:spPr>
          <a:xfrm>
            <a:off x="609600" y="366355"/>
            <a:ext cx="685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INKTRACE  /  05  </a:t>
            </a:r>
            <a:r>
              <a:rPr lang="zh-CN" altLang="en-US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7B6403-47D3-3586-0362-0D80870AE8F8}"/>
              </a:ext>
            </a:extLst>
          </p:cNvPr>
          <p:cNvSpPr txBox="1"/>
          <p:nvPr/>
        </p:nvSpPr>
        <p:spPr>
          <a:xfrm>
            <a:off x="609600" y="736600"/>
            <a:ext cx="10668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800" b="1">
                <a:solidFill>
                  <a:srgbClr val="172033"/>
                </a:solidFill>
                <a:latin typeface="Microsoft YaHei" panose="020B0503020204020204" pitchFamily="34" charset="-122"/>
              </a:rPr>
              <a:t>封版使用前，完成最后十项检查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F983B0-D1FF-D78B-6CB3-3058431D7AF6}"/>
              </a:ext>
            </a:extLst>
          </p:cNvPr>
          <p:cNvSpPr/>
          <p:nvPr/>
        </p:nvSpPr>
        <p:spPr>
          <a:xfrm>
            <a:off x="609600" y="1625600"/>
            <a:ext cx="711200" cy="50800"/>
          </a:xfrm>
          <a:prstGeom prst="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2F43E1-A571-FD0B-7ACB-5971D3B6E978}"/>
              </a:ext>
            </a:extLst>
          </p:cNvPr>
          <p:cNvSpPr txBox="1"/>
          <p:nvPr/>
        </p:nvSpPr>
        <p:spPr>
          <a:xfrm>
            <a:off x="11049000" y="366355"/>
            <a:ext cx="533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667085"/>
                </a:solidFill>
                <a:latin typeface="Microsoft YaHei" panose="020B0503020204020204" pitchFamily="34" charset="-122"/>
              </a:rPr>
              <a:t>35</a:t>
            </a:r>
            <a:endParaRPr lang="zh-CN" altLang="en-US" sz="10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B39C9B-2501-2E12-AA5E-2286B094617B}"/>
              </a:ext>
            </a:extLst>
          </p:cNvPr>
          <p:cNvSpPr txBox="1"/>
          <p:nvPr/>
        </p:nvSpPr>
        <p:spPr>
          <a:xfrm>
            <a:off x="6096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6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500" b="1">
              <a:solidFill>
                <a:srgbClr val="356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7E897A-2A84-D4AB-9E86-E6917A72CE25}"/>
              </a:ext>
            </a:extLst>
          </p:cNvPr>
          <p:cNvSpPr txBox="1"/>
          <p:nvPr/>
        </p:nvSpPr>
        <p:spPr>
          <a:xfrm>
            <a:off x="1447800" y="1993900"/>
            <a:ext cx="4241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作品与配置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881066-A7B6-5C23-A30A-123D7A6CD6B3}"/>
              </a:ext>
            </a:extLst>
          </p:cNvPr>
          <p:cNvCxnSpPr/>
          <p:nvPr/>
        </p:nvCxnSpPr>
        <p:spPr>
          <a:xfrm>
            <a:off x="609600" y="2679700"/>
            <a:ext cx="5080000" cy="0"/>
          </a:xfrm>
          <a:prstGeom prst="line">
            <a:avLst/>
          </a:prstGeom>
          <a:ln w="2794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4298A3F7-6A10-1B31-8B6E-DC14DB0BC45A}"/>
              </a:ext>
            </a:extLst>
          </p:cNvPr>
          <p:cNvSpPr/>
          <p:nvPr/>
        </p:nvSpPr>
        <p:spPr>
          <a:xfrm>
            <a:off x="609600" y="29083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976D3D-0495-62B1-2478-34BC81AD5487}"/>
              </a:ext>
            </a:extLst>
          </p:cNvPr>
          <p:cNvSpPr txBox="1"/>
          <p:nvPr/>
        </p:nvSpPr>
        <p:spPr>
          <a:xfrm>
            <a:off x="863600" y="27940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章节可正常打开和保存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67857F2-A55C-01B9-7A1D-64FB5967EA84}"/>
              </a:ext>
            </a:extLst>
          </p:cNvPr>
          <p:cNvSpPr/>
          <p:nvPr/>
        </p:nvSpPr>
        <p:spPr>
          <a:xfrm>
            <a:off x="609600" y="34163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CE75D1-4D65-4B69-1998-398ABA7E8458}"/>
              </a:ext>
            </a:extLst>
          </p:cNvPr>
          <p:cNvSpPr txBox="1"/>
          <p:nvPr/>
        </p:nvSpPr>
        <p:spPr>
          <a:xfrm>
            <a:off x="863600" y="33020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模型连接测试成功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CF8A762-5E73-0BDD-6646-65AA48A7C556}"/>
              </a:ext>
            </a:extLst>
          </p:cNvPr>
          <p:cNvSpPr/>
          <p:nvPr/>
        </p:nvSpPr>
        <p:spPr>
          <a:xfrm>
            <a:off x="609600" y="39243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623A9D-A85C-E14E-31EF-6AE4926B6D7B}"/>
              </a:ext>
            </a:extLst>
          </p:cNvPr>
          <p:cNvSpPr txBox="1"/>
          <p:nvPr/>
        </p:nvSpPr>
        <p:spPr>
          <a:xfrm>
            <a:off x="863600" y="38100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助手可在设置中心开关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48B2F75-F487-3976-5B3C-DB2C1D880644}"/>
              </a:ext>
            </a:extLst>
          </p:cNvPr>
          <p:cNvSpPr/>
          <p:nvPr/>
        </p:nvSpPr>
        <p:spPr>
          <a:xfrm>
            <a:off x="609600" y="44323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BA670A-E825-6BBD-573F-0479E5D726DB}"/>
              </a:ext>
            </a:extLst>
          </p:cNvPr>
          <p:cNvSpPr txBox="1"/>
          <p:nvPr/>
        </p:nvSpPr>
        <p:spPr>
          <a:xfrm>
            <a:off x="863600" y="43180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预算保护已设置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2826AFA-455F-776D-41AA-FC524508A765}"/>
              </a:ext>
            </a:extLst>
          </p:cNvPr>
          <p:cNvSpPr/>
          <p:nvPr/>
        </p:nvSpPr>
        <p:spPr>
          <a:xfrm>
            <a:off x="609600" y="4940300"/>
            <a:ext cx="88900" cy="88900"/>
          </a:xfrm>
          <a:prstGeom prst="ellipse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A6841-5181-5BC4-895A-CEBA347858A9}"/>
              </a:ext>
            </a:extLst>
          </p:cNvPr>
          <p:cNvSpPr txBox="1"/>
          <p:nvPr/>
        </p:nvSpPr>
        <p:spPr>
          <a:xfrm>
            <a:off x="863600" y="4826000"/>
            <a:ext cx="48260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上下文可以构建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B678965-8CC1-AF4D-1F05-1DF5A3F20219}"/>
              </a:ext>
            </a:extLst>
          </p:cNvPr>
          <p:cNvCxnSpPr/>
          <p:nvPr/>
        </p:nvCxnSpPr>
        <p:spPr>
          <a:xfrm>
            <a:off x="5994400" y="1981200"/>
            <a:ext cx="0" cy="3060700"/>
          </a:xfrm>
          <a:prstGeom prst="line">
            <a:avLst/>
          </a:prstGeom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09CAF71-9613-9E56-E140-99529AAAAB90}"/>
              </a:ext>
            </a:extLst>
          </p:cNvPr>
          <p:cNvSpPr txBox="1"/>
          <p:nvPr/>
        </p:nvSpPr>
        <p:spPr>
          <a:xfrm>
            <a:off x="6350000" y="1927339"/>
            <a:ext cx="7112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2500" b="1">
                <a:solidFill>
                  <a:srgbClr val="35BFA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500" b="1">
              <a:solidFill>
                <a:srgbClr val="35BFA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9AD29B-70FA-FB6A-DF87-BBA5049491F0}"/>
              </a:ext>
            </a:extLst>
          </p:cNvPr>
          <p:cNvSpPr txBox="1"/>
          <p:nvPr/>
        </p:nvSpPr>
        <p:spPr>
          <a:xfrm>
            <a:off x="7188200" y="1993900"/>
            <a:ext cx="439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b="1">
                <a:solidFill>
                  <a:srgbClr val="172033"/>
                </a:solidFill>
                <a:latin typeface="Microsoft YaHei" panose="020B0503020204020204" pitchFamily="34" charset="-122"/>
              </a:rPr>
              <a:t>安全与确认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546E745-742D-D60A-D5D1-03C316E261A8}"/>
              </a:ext>
            </a:extLst>
          </p:cNvPr>
          <p:cNvCxnSpPr/>
          <p:nvPr/>
        </p:nvCxnSpPr>
        <p:spPr>
          <a:xfrm>
            <a:off x="6350000" y="2679700"/>
            <a:ext cx="5232400" cy="0"/>
          </a:xfrm>
          <a:prstGeom prst="line">
            <a:avLst/>
          </a:prstGeom>
          <a:ln w="27940">
            <a:solidFill>
              <a:srgbClr val="35B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EFD91903-B90C-F1F3-E28B-E35B5CF802AA}"/>
              </a:ext>
            </a:extLst>
          </p:cNvPr>
          <p:cNvSpPr/>
          <p:nvPr/>
        </p:nvSpPr>
        <p:spPr>
          <a:xfrm>
            <a:off x="6350000" y="29083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809C41-E9C1-9F9A-8636-A51BFA10C7C3}"/>
              </a:ext>
            </a:extLst>
          </p:cNvPr>
          <p:cNvSpPr txBox="1"/>
          <p:nvPr/>
        </p:nvSpPr>
        <p:spPr>
          <a:xfrm>
            <a:off x="6604000" y="27940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方向和计划由作者确认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D179150-2F09-D004-825B-0BBF46EB08F9}"/>
              </a:ext>
            </a:extLst>
          </p:cNvPr>
          <p:cNvSpPr/>
          <p:nvPr/>
        </p:nvSpPr>
        <p:spPr>
          <a:xfrm>
            <a:off x="6350000" y="34163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D3C669-D54E-FF97-0DE0-4350A81B5117}"/>
              </a:ext>
            </a:extLst>
          </p:cNvPr>
          <p:cNvSpPr txBox="1"/>
          <p:nvPr/>
        </p:nvSpPr>
        <p:spPr>
          <a:xfrm>
            <a:off x="6604000" y="33020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候选稿不会自动进正文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9F2B84E-CA22-7AE2-43F5-A5ADC842A98C}"/>
              </a:ext>
            </a:extLst>
          </p:cNvPr>
          <p:cNvSpPr/>
          <p:nvPr/>
        </p:nvSpPr>
        <p:spPr>
          <a:xfrm>
            <a:off x="6350000" y="39243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A203D6-C3B9-44E9-2DF9-3D8672880A53}"/>
              </a:ext>
            </a:extLst>
          </p:cNvPr>
          <p:cNvSpPr txBox="1"/>
          <p:nvPr/>
        </p:nvSpPr>
        <p:spPr>
          <a:xfrm>
            <a:off x="6604000" y="38100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阻断冲突不能跳过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B6DAC06-6F50-EB80-51FD-47ED8CEBFFC9}"/>
              </a:ext>
            </a:extLst>
          </p:cNvPr>
          <p:cNvSpPr/>
          <p:nvPr/>
        </p:nvSpPr>
        <p:spPr>
          <a:xfrm>
            <a:off x="6350000" y="44323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0F00CE-77C6-4042-6749-88CDBD3BFE14}"/>
              </a:ext>
            </a:extLst>
          </p:cNvPr>
          <p:cNvSpPr txBox="1"/>
          <p:nvPr/>
        </p:nvSpPr>
        <p:spPr>
          <a:xfrm>
            <a:off x="6604000" y="43180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故事记忆单独审批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2F6C24B-8C7B-1A4F-868C-11140402490A}"/>
              </a:ext>
            </a:extLst>
          </p:cNvPr>
          <p:cNvSpPr/>
          <p:nvPr/>
        </p:nvSpPr>
        <p:spPr>
          <a:xfrm>
            <a:off x="6350000" y="4940300"/>
            <a:ext cx="88900" cy="88900"/>
          </a:xfrm>
          <a:prstGeom prst="ellipse">
            <a:avLst/>
          </a:prstGeom>
          <a:solidFill>
            <a:srgbClr val="35B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07A55A4-4755-B919-F406-E0CF6268C064}"/>
              </a:ext>
            </a:extLst>
          </p:cNvPr>
          <p:cNvSpPr txBox="1"/>
          <p:nvPr/>
        </p:nvSpPr>
        <p:spPr>
          <a:xfrm>
            <a:off x="6604000" y="4826000"/>
            <a:ext cx="4978400" cy="24878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50">
                <a:solidFill>
                  <a:srgbClr val="172033"/>
                </a:solidFill>
                <a:latin typeface="Microsoft YaHei" panose="020B0503020204020204" pitchFamily="34" charset="-122"/>
              </a:rPr>
              <a:t>停止任务不会自动恢复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6076C40-89AC-3E31-6B4B-70C340912F5D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oundRect">
            <a:avLst/>
          </a:prstGeom>
          <a:solidFill>
            <a:srgbClr val="DCE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42EDFEE-FD74-92D7-2B23-8F7FB3ED1338}"/>
              </a:ext>
            </a:extLst>
          </p:cNvPr>
          <p:cNvSpPr/>
          <p:nvPr/>
        </p:nvSpPr>
        <p:spPr>
          <a:xfrm>
            <a:off x="609600" y="5562600"/>
            <a:ext cx="88900" cy="660400"/>
          </a:xfrm>
          <a:prstGeom prst="roundRect">
            <a:avLst/>
          </a:prstGeom>
          <a:solidFill>
            <a:srgbClr val="356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2B7A100-5BB9-1EC4-EDCA-F46BA8E228CE}"/>
              </a:ext>
            </a:extLst>
          </p:cNvPr>
          <p:cNvSpPr txBox="1"/>
          <p:nvPr/>
        </p:nvSpPr>
        <p:spPr>
          <a:xfrm>
            <a:off x="889000" y="5694977"/>
            <a:ext cx="1046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400" b="1">
                <a:solidFill>
                  <a:srgbClr val="172033"/>
                </a:solidFill>
                <a:latin typeface="Microsoft YaHei" panose="020B0503020204020204" pitchFamily="34" charset="-122"/>
              </a:rPr>
              <a:t>记住  全部确认后，再开始较长的多章任务。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D95DC5-DD9B-7F30-12C6-74587385550E}"/>
              </a:ext>
            </a:extLst>
          </p:cNvPr>
          <p:cNvSpPr txBox="1"/>
          <p:nvPr/>
        </p:nvSpPr>
        <p:spPr>
          <a:xfrm>
            <a:off x="609600" y="6546250"/>
            <a:ext cx="444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>
                <a:solidFill>
                  <a:srgbClr val="667085"/>
                </a:solidFill>
                <a:latin typeface="Microsoft YaHei" panose="020B0503020204020204" pitchFamily="34" charset="-122"/>
              </a:rPr>
              <a:t>INKTRACE V2.0  ·  </a:t>
            </a:r>
            <a:r>
              <a:rPr lang="zh-CN" altLang="en-US" sz="900">
                <a:solidFill>
                  <a:srgbClr val="667085"/>
                </a:solidFill>
                <a:latin typeface="Microsoft YaHei" panose="020B0503020204020204" pitchFamily="34" charset="-122"/>
              </a:rPr>
              <a:t>日常写作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6CEFC36-4694-8D6E-4798-2C0C85EF47A4}"/>
              </a:ext>
            </a:extLst>
          </p:cNvPr>
          <p:cNvCxnSpPr/>
          <p:nvPr/>
        </p:nvCxnSpPr>
        <p:spPr>
          <a:xfrm>
            <a:off x="10388600" y="6578600"/>
            <a:ext cx="609600" cy="0"/>
          </a:xfrm>
          <a:prstGeom prst="line">
            <a:avLst/>
          </a:prstGeom>
          <a:ln w="25400">
            <a:solidFill>
              <a:srgbClr val="356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94D6DD19-9E00-158D-3DC6-F587073EEA93}"/>
              </a:ext>
            </a:extLst>
          </p:cNvPr>
          <p:cNvSpPr txBox="1"/>
          <p:nvPr/>
        </p:nvSpPr>
        <p:spPr>
          <a:xfrm>
            <a:off x="11112500" y="6508150"/>
            <a:ext cx="4699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67085"/>
                </a:solidFill>
                <a:latin typeface="Microsoft YaHei" panose="020B0503020204020204" pitchFamily="34" charset="-122"/>
              </a:rPr>
              <a:t>35</a:t>
            </a:r>
            <a:endParaRPr lang="zh-CN" altLang="en-US" sz="900" b="1">
              <a:solidFill>
                <a:srgbClr val="66708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741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FC48985-BD51-ACB5-D573-4B478BD8C827}"/>
              </a:ext>
            </a:extLst>
          </p:cNvPr>
          <p:cNvSpPr/>
          <p:nvPr/>
        </p:nvSpPr>
        <p:spPr>
          <a:xfrm>
            <a:off x="-825500" y="4508500"/>
            <a:ext cx="3238500" cy="3238500"/>
          </a:xfrm>
          <a:prstGeom prst="ellipse">
            <a:avLst/>
          </a:prstGeom>
          <a:solidFill>
            <a:srgbClr val="356CFF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18C24AA-DCC8-2521-403A-DE09696566F9}"/>
              </a:ext>
            </a:extLst>
          </p:cNvPr>
          <p:cNvSpPr/>
          <p:nvPr/>
        </p:nvSpPr>
        <p:spPr>
          <a:xfrm>
            <a:off x="10223500" y="-508000"/>
            <a:ext cx="2349500" cy="2349500"/>
          </a:xfrm>
          <a:prstGeom prst="ellipse">
            <a:avLst/>
          </a:prstGeom>
          <a:solidFill>
            <a:srgbClr val="35BFA0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4ACA50-9529-8806-1F7C-681E16166987}"/>
              </a:ext>
            </a:extLst>
          </p:cNvPr>
          <p:cNvSpPr txBox="1"/>
          <p:nvPr/>
        </p:nvSpPr>
        <p:spPr>
          <a:xfrm>
            <a:off x="685800" y="599961"/>
            <a:ext cx="762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1100" b="1">
                <a:solidFill>
                  <a:srgbClr val="35BFA0"/>
                </a:solidFill>
                <a:latin typeface="Microsoft YaHei" panose="020B0503020204020204" pitchFamily="34" charset="-122"/>
              </a:rPr>
              <a:t>INKTRACE  /  </a:t>
            </a:r>
            <a:r>
              <a:rPr lang="zh-CN" altLang="en-US" sz="1100" b="1">
                <a:solidFill>
                  <a:srgbClr val="35BFA0"/>
                </a:solidFill>
                <a:latin typeface="Microsoft YaHei" panose="020B0503020204020204" pitchFamily="34" charset="-122"/>
              </a:rPr>
              <a:t>写作的决定权始终在你手里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B845EC-AB89-735F-DC62-EDB7A59E8542}"/>
              </a:ext>
            </a:extLst>
          </p:cNvPr>
          <p:cNvSpPr txBox="1"/>
          <p:nvPr/>
        </p:nvSpPr>
        <p:spPr>
          <a:xfrm>
            <a:off x="1397000" y="1333500"/>
            <a:ext cx="9398000" cy="211852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先决定方向
再准备候选
看过、改过、确认过
最后才进入正文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09CD5AB-02B7-2D32-0805-3FA3207860EB}"/>
              </a:ext>
            </a:extLst>
          </p:cNvPr>
          <p:cNvCxnSpPr/>
          <p:nvPr/>
        </p:nvCxnSpPr>
        <p:spPr>
          <a:xfrm>
            <a:off x="4445000" y="4851400"/>
            <a:ext cx="3302000" cy="0"/>
          </a:xfrm>
          <a:prstGeom prst="line">
            <a:avLst/>
          </a:prstGeom>
          <a:ln w="50800">
            <a:solidFill>
              <a:srgbClr val="F2B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4D1B551-C01F-2CE9-A151-77472BD25D53}"/>
              </a:ext>
            </a:extLst>
          </p:cNvPr>
          <p:cNvSpPr txBox="1"/>
          <p:nvPr/>
        </p:nvSpPr>
        <p:spPr>
          <a:xfrm>
            <a:off x="1905000" y="5191611"/>
            <a:ext cx="8382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2000" b="1">
                <a:solidFill>
                  <a:srgbClr val="35BFA0"/>
                </a:solidFill>
                <a:latin typeface="Microsoft YaHei" panose="020B0503020204020204" pitchFamily="34" charset="-122"/>
              </a:rPr>
              <a:t>你始终是作者。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096BDB-2EAA-4F69-6EE7-2C28D1EEE9A9}"/>
              </a:ext>
            </a:extLst>
          </p:cNvPr>
          <p:cNvSpPr txBox="1"/>
          <p:nvPr/>
        </p:nvSpPr>
        <p:spPr>
          <a:xfrm>
            <a:off x="10845800" y="6343050"/>
            <a:ext cx="736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AAB7C7"/>
                </a:solidFill>
                <a:latin typeface="Microsoft YaHei" panose="020B0503020204020204" pitchFamily="34" charset="-122"/>
              </a:rPr>
              <a:t>36 / 36</a:t>
            </a:r>
            <a:endParaRPr lang="zh-CN" altLang="en-US" sz="900" b="1">
              <a:solidFill>
                <a:srgbClr val="AAB7C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587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3023</Words>
  <Application>Microsoft Office PowerPoint</Application>
  <PresentationFormat>自定义</PresentationFormat>
  <Paragraphs>574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利群 孔</dc:creator>
  <cp:lastModifiedBy>利群 孔</cp:lastModifiedBy>
  <cp:revision>1</cp:revision>
  <dcterms:created xsi:type="dcterms:W3CDTF">2026-07-13T08:29:19Z</dcterms:created>
  <dcterms:modified xsi:type="dcterms:W3CDTF">2026-07-13T08:29:20Z</dcterms:modified>
</cp:coreProperties>
</file>